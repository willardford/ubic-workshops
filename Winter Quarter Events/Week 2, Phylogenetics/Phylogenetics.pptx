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peau.cbd.cmu.edu/online-education-projects/sars-cov-2-software-assignments/sars-cov-2-evolutionary-tree-multiple-alignment-challenge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ews-medical.net/health/Viral-Clades-of-SARS-CoV-2.aspx" TargetMode="External"/><Relationship Id="rId3" Type="http://schemas.openxmlformats.org/officeDocument/2006/relationships/hyperlink" Target="https://news.ucsc.edu/2022/06/10-million-sequences.html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urakhia.ucsd.edu/PPTs/PanMAN-Oxford-2024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Philip Compeau Covid Data: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https://compeau.cbd.cmu.edu/online-education-projects/sars-cov-2-software-assignments/sars-cov-2-evolutionary-tree-multiple-alignment-challenge/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cheat sheet: </a:t>
            </a:r>
            <a:r>
              <a:rPr lang="en" sz="900">
                <a:solidFill>
                  <a:schemeClr val="dk1"/>
                </a:solidFill>
              </a:rPr>
              <a:t>https://www.markdownguide.org/cheat-sheet/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a837971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a837971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4ad3fde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4ad3fd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Closer branches more overlap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clade has at least one shared trait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a8379717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2a8379717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4ad3fde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4ad3fde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Source Sans Pro"/>
              <a:buChar char="●"/>
            </a:pP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was especially helpful at the beginning of the pandemic when </a:t>
            </a: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“The first four cases of COVID-19 in New South Wales, Australia, were found to be closely related to the dominant strain of SARS-CoV-2 found in Wuhan, through genome sequencing and these first four cases were all in people who had recently returned from traveling in China” </a:t>
            </a:r>
            <a:r>
              <a:rPr lang="en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/>
              </a:rPr>
              <a:t>https://www.news-medical.net/health/Viral-Clades-of-SARS-CoV-2.aspx</a:t>
            </a:r>
            <a:r>
              <a:rPr lang="en" sz="1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1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90"/>
              <a:buFont typeface="Source Sans Pro"/>
              <a:buChar char="○"/>
            </a:pPr>
            <a:r>
              <a:rPr lang="en" sz="17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Phylogenetics was helpful for tracking and tracing COVID origins and limiting travel during the pandemic. </a:t>
            </a:r>
            <a:endParaRPr sz="17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Image: </a:t>
            </a:r>
            <a:r>
              <a:rPr lang="en" sz="17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Tree of 10 million covid sequences from  uc santa cruz - the largest tree of genomic sequences of a single species ever assembled as of 2022 </a:t>
            </a:r>
            <a:r>
              <a:rPr lang="en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https://news.ucsc.edu/2022/06/10-million-sequences.html</a:t>
            </a:r>
            <a:r>
              <a:rPr lang="en" sz="1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7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4ad3fde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4ad3fde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Image: </a:t>
            </a: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visual representation of a pangenome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PanMAN Tool </a:t>
            </a: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(Pangenome Mutation-annotate Network)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/>
              <a:buChar char="○"/>
            </a:pPr>
            <a:r>
              <a:rPr b="1"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Pangenome</a:t>
            </a: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entire set of genes from all strains within a clade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ad3fdee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ad3fdee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PanMAN Tool 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Source Sans Pro"/>
              <a:buChar char="●"/>
            </a:pP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PanMAN is used to analyze and visualize pangenomes which is especially useful for studying the genetic mutations in viruses like COVID and other microbial datasets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Composed of mutation-annotated trees called </a:t>
            </a:r>
            <a:r>
              <a:rPr b="1"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PanMATs </a:t>
            </a: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(Phylogenetic Analysis of Novel Mutations and Transmissions)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Image: </a:t>
            </a: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Exploration of SARS-CoV-2 mutational and evolutionary landscape using PanMAN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Source Sans Pro"/>
              <a:buChar char="-"/>
            </a:pP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UShER-MAT: another MAT tool, cannot represent complex mutations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Source Sans Pro"/>
              <a:buChar char="●"/>
            </a:pPr>
            <a:r>
              <a:rPr lang="en" sz="20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Useful because:</a:t>
            </a:r>
            <a:endParaRPr sz="20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14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90"/>
              <a:buFont typeface="Source Sans Pro"/>
              <a:buChar char="○"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 annotating mutations on different branches of the tree it is easier to quickly identify and analyze genetic changes which could be affecting its severity, resistance to vaccines, and transmissibility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/>
              </a:rPr>
              <a:t>https://turakhia.ucsd.edu/PPTs/PanMAN-Oxford-2024.pdf</a:t>
            </a: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a8379717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a8379717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Phylogenetics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431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Using genetics to study evolutionary history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Relationships among: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Species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Individuals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Genes </a:t>
            </a:r>
            <a:endParaRPr sz="1800"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5730" l="3425" r="4238" t="1548"/>
          <a:stretch/>
        </p:blipFill>
        <p:spPr>
          <a:xfrm>
            <a:off x="4204150" y="547400"/>
            <a:ext cx="4685850" cy="42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phylogenetics?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Phylogenetic trees show evolutionary relationships</a:t>
            </a:r>
            <a:endParaRPr sz="260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40400"/>
            <a:ext cx="2787000" cy="14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Closer together → more genetic overlap</a:t>
            </a:r>
            <a:endParaRPr sz="18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165" y="1140400"/>
            <a:ext cx="5415135" cy="36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2571700"/>
            <a:ext cx="2509500" cy="2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Clade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 ancestor and all its descendants</a:t>
            </a:r>
            <a:endParaRPr sz="2200"/>
          </a:p>
        </p:txBody>
      </p:sp>
      <p:sp>
        <p:nvSpPr>
          <p:cNvPr id="75" name="Google Shape;75;p15"/>
          <p:cNvSpPr/>
          <p:nvPr/>
        </p:nvSpPr>
        <p:spPr>
          <a:xfrm>
            <a:off x="6016425" y="3749725"/>
            <a:ext cx="2387400" cy="98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244050" y="1806175"/>
            <a:ext cx="4364700" cy="30099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FASTA file?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 text-based file format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Commonly used in nucleotide sequences or peptide sequences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Example: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&gt;seq1 Description of sequence 1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ATGCGTACGTAGCTAGCTAG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&gt;seq2 Description of sequence 2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200"/>
              <a:t>GATTACAAGGCTAGCTAGCA</a:t>
            </a:r>
            <a:endParaRPr sz="2200"/>
          </a:p>
        </p:txBody>
      </p:sp>
      <p:sp>
        <p:nvSpPr>
          <p:cNvPr id="83" name="Google Shape;83;p16"/>
          <p:cNvSpPr/>
          <p:nvPr/>
        </p:nvSpPr>
        <p:spPr>
          <a:xfrm>
            <a:off x="4712350" y="2665775"/>
            <a:ext cx="548700" cy="155700"/>
          </a:xfrm>
          <a:prstGeom prst="leftArrow">
            <a:avLst>
              <a:gd fmla="val 24175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201525" y="2431925"/>
            <a:ext cx="3091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Header line: </a:t>
            </a:r>
            <a:r>
              <a:rPr lang="en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sequence identifier and description (optional)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075475" y="3665125"/>
            <a:ext cx="1185600" cy="155700"/>
          </a:xfrm>
          <a:prstGeom prst="leftArrow">
            <a:avLst>
              <a:gd fmla="val 24175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201525" y="3543925"/>
            <a:ext cx="20388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Sequence</a:t>
            </a:r>
            <a:r>
              <a:rPr lang="en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(much longer)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Phylogenetics can inform public </a:t>
            </a:r>
            <a:r>
              <a:rPr lang="en"/>
              <a:t>health</a:t>
            </a:r>
            <a:r>
              <a:rPr lang="en"/>
              <a:t> policies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68425"/>
            <a:ext cx="43902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Useful for tracking the growth in COVID variants</a:t>
            </a:r>
            <a:endParaRPr sz="2400"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75" y="1030625"/>
            <a:ext cx="3993225" cy="368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2679725"/>
            <a:ext cx="43902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Rapid genome sequencing → determine location someone was infected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PanMAN tool developed at UCSD!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425" y="1239475"/>
            <a:ext cx="6407174" cy="36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PanMAN tool developed at UCSD!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62" y="1507125"/>
            <a:ext cx="8934876" cy="26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Labs at UCSD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Turakhia lab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Mirarab lab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600" y="445025"/>
            <a:ext cx="4977748" cy="159820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321" y="2278175"/>
            <a:ext cx="2446029" cy="22864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775" y="2278175"/>
            <a:ext cx="3572871" cy="228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600" y="2278175"/>
            <a:ext cx="2341769" cy="228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