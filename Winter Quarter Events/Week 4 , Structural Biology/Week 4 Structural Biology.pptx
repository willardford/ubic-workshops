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Lora"/>
      <p:regular r:id="rId27"/>
      <p:bold r:id="rId28"/>
      <p:italic r:id="rId29"/>
      <p:boldItalic r:id="rId30"/>
    </p:embeddedFont>
    <p:embeddedFont>
      <p:font typeface="Albert Sans"/>
      <p:regular r:id="rId31"/>
      <p:bold r:id="rId32"/>
      <p:italic r:id="rId33"/>
      <p:boldItalic r:id="rId34"/>
    </p:embeddedFont>
    <p:embeddedFont>
      <p:font typeface="Questrial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Lora-bold.fntdata"/><Relationship Id="rId27" Type="http://schemas.openxmlformats.org/officeDocument/2006/relationships/font" Target="fonts/Lor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ora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lbertSans-regular.fntdata"/><Relationship Id="rId30" Type="http://schemas.openxmlformats.org/officeDocument/2006/relationships/font" Target="fonts/Lora-boldItalic.fntdata"/><Relationship Id="rId11" Type="http://schemas.openxmlformats.org/officeDocument/2006/relationships/slide" Target="slides/slide7.xml"/><Relationship Id="rId33" Type="http://schemas.openxmlformats.org/officeDocument/2006/relationships/font" Target="fonts/AlbertSans-italic.fntdata"/><Relationship Id="rId10" Type="http://schemas.openxmlformats.org/officeDocument/2006/relationships/slide" Target="slides/slide6.xml"/><Relationship Id="rId32" Type="http://schemas.openxmlformats.org/officeDocument/2006/relationships/font" Target="fonts/AlbertSans-bold.fntdata"/><Relationship Id="rId13" Type="http://schemas.openxmlformats.org/officeDocument/2006/relationships/slide" Target="slides/slide9.xml"/><Relationship Id="rId35" Type="http://schemas.openxmlformats.org/officeDocument/2006/relationships/font" Target="fonts/Questrial-regular.fntdata"/><Relationship Id="rId12" Type="http://schemas.openxmlformats.org/officeDocument/2006/relationships/slide" Target="slides/slide8.xml"/><Relationship Id="rId34" Type="http://schemas.openxmlformats.org/officeDocument/2006/relationships/font" Target="fonts/Albert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79a82cdb8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79a82cdb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b02ffd3c7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2b02ffd3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b02ffd3c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2b02ffd3c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2b078343df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2b078343d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b02ffd3c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2b02ffd3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298dc1bfb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298dc1bf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Proteins are built hierarchically: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b="1" lang="en" sz="1500">
                <a:solidFill>
                  <a:schemeClr val="dk1"/>
                </a:solidFill>
              </a:rPr>
              <a:t>primary structure</a:t>
            </a:r>
            <a:r>
              <a:rPr lang="en" sz="1500">
                <a:solidFill>
                  <a:schemeClr val="dk1"/>
                </a:solidFill>
              </a:rPr>
              <a:t> is the sequence of amino acids linked by peptide bonds.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b="1" lang="en" sz="1500">
                <a:solidFill>
                  <a:schemeClr val="dk1"/>
                </a:solidFill>
              </a:rPr>
              <a:t>secondary structure</a:t>
            </a:r>
            <a:r>
              <a:rPr lang="en" sz="1500">
                <a:solidFill>
                  <a:schemeClr val="dk1"/>
                </a:solidFill>
              </a:rPr>
              <a:t> forms through local hydrogen bonds, creating repetitive patterns like </a:t>
            </a:r>
            <a:r>
              <a:rPr b="1" lang="en" sz="1500">
                <a:solidFill>
                  <a:schemeClr val="dk1"/>
                </a:solidFill>
              </a:rPr>
              <a:t>α-helices</a:t>
            </a:r>
            <a:r>
              <a:rPr lang="en" sz="1500">
                <a:solidFill>
                  <a:schemeClr val="dk1"/>
                </a:solidFill>
              </a:rPr>
              <a:t> (spirals) and </a:t>
            </a:r>
            <a:r>
              <a:rPr b="1" lang="en" sz="1500">
                <a:solidFill>
                  <a:schemeClr val="dk1"/>
                </a:solidFill>
              </a:rPr>
              <a:t>β-sheets</a:t>
            </a:r>
            <a:r>
              <a:rPr lang="en" sz="1500">
                <a:solidFill>
                  <a:schemeClr val="dk1"/>
                </a:solidFill>
              </a:rPr>
              <a:t> (flat sheets).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The </a:t>
            </a:r>
            <a:r>
              <a:rPr b="1" lang="en" sz="1500">
                <a:solidFill>
                  <a:schemeClr val="dk1"/>
                </a:solidFill>
              </a:rPr>
              <a:t>tertiary structure</a:t>
            </a:r>
            <a:r>
              <a:rPr lang="en" sz="1500">
                <a:solidFill>
                  <a:schemeClr val="dk1"/>
                </a:solidFill>
              </a:rPr>
              <a:t> refers to the overall 3D shape of the folded chain, influenced by side chain interactions and stabilized by bonds.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Some proteins are composed of multiple chains working together, forming the </a:t>
            </a:r>
            <a:r>
              <a:rPr b="1" lang="en" sz="1500">
                <a:solidFill>
                  <a:schemeClr val="dk1"/>
                </a:solidFill>
              </a:rPr>
              <a:t>quaternary structure</a:t>
            </a:r>
            <a:r>
              <a:rPr lang="en" sz="1500">
                <a:solidFill>
                  <a:schemeClr val="dk1"/>
                </a:solidFill>
              </a:rPr>
              <a:t>. Each level of organization is critical for the protein's function.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b02ffd3c7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2b02ffd3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298dc1bfb5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298dc1bf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Protein folding occurs because of interactions between amino acid side chains (</a:t>
            </a:r>
            <a:r>
              <a:rPr b="1" lang="en" sz="1500">
                <a:solidFill>
                  <a:schemeClr val="dk1"/>
                </a:solidFill>
              </a:rPr>
              <a:t>R-groups</a:t>
            </a:r>
            <a:r>
              <a:rPr lang="en" sz="1500">
                <a:solidFill>
                  <a:schemeClr val="dk1"/>
                </a:solidFill>
              </a:rPr>
              <a:t>) and the environment: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Hydrophobic interactions</a:t>
            </a:r>
            <a:r>
              <a:rPr lang="en" sz="1500">
                <a:solidFill>
                  <a:schemeClr val="dk1"/>
                </a:solidFill>
              </a:rPr>
              <a:t>: Nonpolar R-groups avoid water, collapsing the protein inward.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Hydrogen bonds</a:t>
            </a:r>
            <a:r>
              <a:rPr lang="en" sz="1500">
                <a:solidFill>
                  <a:schemeClr val="dk1"/>
                </a:solidFill>
              </a:rPr>
              <a:t>: Stabilize secondary structures and 3D folding.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Ionic bonds</a:t>
            </a:r>
            <a:r>
              <a:rPr lang="en" sz="1500">
                <a:solidFill>
                  <a:schemeClr val="dk1"/>
                </a:solidFill>
              </a:rPr>
              <a:t>: Form between oppositely charged R-groups, creating strong attractions.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Disulfide bridges</a:t>
            </a:r>
            <a:r>
              <a:rPr lang="en" sz="1500">
                <a:solidFill>
                  <a:schemeClr val="dk1"/>
                </a:solidFill>
              </a:rPr>
              <a:t>: Covalent bonds between cysteine residues, reinforcing structure.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Van der Waals forces</a:t>
            </a:r>
            <a:r>
              <a:rPr lang="en" sz="1500">
                <a:solidFill>
                  <a:schemeClr val="dk1"/>
                </a:solidFill>
              </a:rPr>
              <a:t>: Weak attractions between atoms in close proximity.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Together, these forces guide the protein into its most stable, functional shape, balancing energy and structure.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b02ffd3c7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2b02ffd3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2b02ffd3c7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2b02ffd3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2b02ffd3c7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2b02ffd3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2b02ffd3c7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2b02ffd3c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b02ffd3c7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2b02ffd3c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b02ffd3c7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2b02ffd3c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2b02ffd3c7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2b02ffd3c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2b078343df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2b078343d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2b078343df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2b078343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2ed8f1845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2ed8f184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- Give the model some data, allow it to extract important parts of the data, process the data and determine the differences between its prediction and true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Give a new dataset (validation/test set) to see how accurate it is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Measures how accurate, precise, error prone the task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- Apply to real world scenarios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ML Models - Can learn from labeled data, find patterns in unlabeled, combine both, or even interact + give it rewards as appropriate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29d879ba7a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29d879ba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Takes in an amino acid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MSA - Find evolutionary relationships by aligning similar sequences across organisms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Prediction - Predicts relationships between amino acids, create a </a:t>
            </a:r>
            <a:r>
              <a:rPr lang="en"/>
              <a:t>probability</a:t>
            </a:r>
            <a:r>
              <a:rPr lang="en"/>
              <a:t> distribution of the possible results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Refinement - Optimize and refine the structure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2b02ffd3c7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2b02ffd3c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2b02ffd3c7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2b02ffd3c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298dc1bfb5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298dc1bfb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Cryo-em for an atomic-level understanding of the structure and dynamics that govern macromolecular transport within eukaryotic cells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Cryo-electron microscopy and tomography, cell biophysics, computational analysis, and integrative modeling to help in the design of inhibitors, and to understand the mechanistic details of LRRK2 function in Parkinson's Disease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6725" y="3532375"/>
            <a:ext cx="9210650" cy="1302680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26725" y="3663700"/>
            <a:ext cx="9210650" cy="1529774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14" name="Google Shape;14;p2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" name="Google Shape;17;p2"/>
          <p:cNvGrpSpPr/>
          <p:nvPr/>
        </p:nvGrpSpPr>
        <p:grpSpPr>
          <a:xfrm>
            <a:off x="-42787" y="3605288"/>
            <a:ext cx="9229575" cy="642787"/>
            <a:chOff x="-42837" y="4443488"/>
            <a:chExt cx="9229575" cy="642787"/>
          </a:xfrm>
        </p:grpSpPr>
        <p:sp>
          <p:nvSpPr>
            <p:cNvPr id="18" name="Google Shape;18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  <a:defRPr sz="28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0" name="Google Shape;50;p3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" name="Google Shape;51;p3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55" name="Google Shape;55;p3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6" name="Google Shape;56;p3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" name="Google Shape;57;p3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8" name="Google Shape;58;p3"/>
          <p:cNvGrpSpPr/>
          <p:nvPr/>
        </p:nvGrpSpPr>
        <p:grpSpPr>
          <a:xfrm>
            <a:off x="-42837" y="2005088"/>
            <a:ext cx="9229575" cy="642787"/>
            <a:chOff x="-42837" y="4443488"/>
            <a:chExt cx="9229575" cy="642787"/>
          </a:xfrm>
        </p:grpSpPr>
        <p:sp>
          <p:nvSpPr>
            <p:cNvPr id="59" name="Google Shape;59;p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3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ora"/>
              <a:buNone/>
              <a:defRPr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" name="Google Shape;89;p3"/>
          <p:cNvSpPr txBox="1"/>
          <p:nvPr>
            <p:ph idx="1" type="subTitle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ora"/>
              <a:buNone/>
              <a:defRPr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">
  <p:cSld name="TITLE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92" name="Google Shape;92;p4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93" name="Google Shape;93;p4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97" name="Google Shape;97;p4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8" name="Google Shape;98;p4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9" name="Google Shape;99;p4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0" name="Google Shape;100;p4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01" name="Google Shape;101;p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1536538" y="1789175"/>
            <a:ext cx="6084000" cy="2766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 1">
  <p:cSld name="TITLE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39" name="Google Shape;139;p5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0" name="Google Shape;140;p5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1" name="Google Shape;141;p5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42" name="Google Shape;142;p5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43" name="Google Shape;14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5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>
            <p:ph type="title"/>
          </p:nvPr>
        </p:nvSpPr>
        <p:spPr>
          <a:xfrm>
            <a:off x="1536538" y="484300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132421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4" name="Google Shape;174;p5"/>
          <p:cNvSpPr txBox="1"/>
          <p:nvPr>
            <p:ph idx="2" type="body"/>
          </p:nvPr>
        </p:nvSpPr>
        <p:spPr>
          <a:xfrm>
            <a:off x="478966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8" name="Google Shape;178;p6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79" name="Google Shape;179;p6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80" name="Google Shape;180;p6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6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84" name="Google Shape;184;p6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6" name="Google Shape;186;p6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7" name="Google Shape;187;p6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188" name="Google Shape;188;p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19" name="Google Shape;219;p7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7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25" name="Google Shape;225;p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51" name="Google Shape;251;p7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2" name="Google Shape;252;p7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3" name="Google Shape;253;p7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54" name="Google Shape;254;p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7"/>
          <p:cNvSpPr txBox="1"/>
          <p:nvPr>
            <p:ph idx="1" type="subTitle"/>
          </p:nvPr>
        </p:nvSpPr>
        <p:spPr>
          <a:xfrm>
            <a:off x="2838925" y="632708"/>
            <a:ext cx="3456600" cy="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60" name="Google Shape;260;p7"/>
          <p:cNvSpPr txBox="1"/>
          <p:nvPr>
            <p:ph idx="2" type="body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64" name="Google Shape;264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68" name="Google Shape;268;p8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9" name="Google Shape;269;p8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0" name="Google Shape;270;p8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71" name="Google Shape;271;p8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72" name="Google Shape;272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03" name="Google Shape;303;p9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04" name="Google Shape;304;p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8" name="Google Shape;308;p9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9" name="Google Shape;309;p9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0" name="Google Shape;310;p9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11" name="Google Shape;311;p9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12" name="Google Shape;312;p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2">
  <p:cSld name="BLANK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43" name="Google Shape;343;p10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44" name="Google Shape;344;p10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" name="Google Shape;347;p10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48" name="Google Shape;348;p10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9" name="Google Shape;349;p10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50" name="Google Shape;350;p10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51" name="Google Shape;351;p10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52" name="Google Shape;352;p1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 txBox="1"/>
          <p:nvPr>
            <p:ph idx="1" type="subTitle"/>
          </p:nvPr>
        </p:nvSpPr>
        <p:spPr>
          <a:xfrm>
            <a:off x="2298300" y="652513"/>
            <a:ext cx="4547100" cy="595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1">
  <p:cSld name="BLANK_2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84" name="Google Shape;384;p11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85" name="Google Shape;385;p11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1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89" name="Google Shape;389;p11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0" name="Google Shape;390;p11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1" name="Google Shape;391;p11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92" name="Google Shape;392;p11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93" name="Google Shape;393;p1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11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575" y="927550"/>
            <a:ext cx="73164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  <a:defRPr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5.jpg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watch?v=3gSy_yN9YBo" TargetMode="External"/><Relationship Id="rId4" Type="http://schemas.openxmlformats.org/officeDocument/2006/relationships/hyperlink" Target="https://www.youtube.com/watch?v=7q8Uw3rmXy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herziklab.com/publications.html" TargetMode="External"/><Relationship Id="rId4" Type="http://schemas.openxmlformats.org/officeDocument/2006/relationships/hyperlink" Target="https://villalab.ucsd.edu/research/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 txBox="1"/>
          <p:nvPr>
            <p:ph type="ctrTitle"/>
          </p:nvPr>
        </p:nvSpPr>
        <p:spPr>
          <a:xfrm>
            <a:off x="1686275" y="3031150"/>
            <a:ext cx="6869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Workshop: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Biology </a:t>
            </a:r>
            <a:endParaRPr/>
          </a:p>
        </p:txBody>
      </p:sp>
      <p:sp>
        <p:nvSpPr>
          <p:cNvPr id="429" name="Google Shape;429;p13"/>
          <p:cNvSpPr txBox="1"/>
          <p:nvPr>
            <p:ph idx="1" type="subTitle"/>
          </p:nvPr>
        </p:nvSpPr>
        <p:spPr>
          <a:xfrm>
            <a:off x="3236816" y="4085025"/>
            <a:ext cx="5214600" cy="4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250" y="100875"/>
            <a:ext cx="2115625" cy="4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Proteins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1068475" y="1284950"/>
            <a:ext cx="69966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Large molecules that play critical roles in biological processes in living organisms.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37" name="Google Shape;4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386" y="2062575"/>
            <a:ext cx="2844776" cy="24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 to know what proteins look like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2463750" y="1454775"/>
            <a:ext cx="42165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Understand how proteins interact with molecules and the role they play in pathways by understanding their specific form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44" name="Google Shape;444;p15"/>
          <p:cNvSpPr txBox="1"/>
          <p:nvPr/>
        </p:nvSpPr>
        <p:spPr>
          <a:xfrm>
            <a:off x="3361050" y="1276975"/>
            <a:ext cx="2421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Lora"/>
                <a:ea typeface="Lora"/>
                <a:cs typeface="Lora"/>
                <a:sym typeface="Lora"/>
              </a:rPr>
              <a:t>FORM = FUNCTION</a:t>
            </a:r>
            <a:endParaRPr b="1" sz="17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45" name="Google Shape;4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225" y="3092975"/>
            <a:ext cx="4127600" cy="16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 to know what proteins look like</a:t>
            </a:r>
            <a:endParaRPr/>
          </a:p>
        </p:txBody>
      </p:sp>
      <p:sp>
        <p:nvSpPr>
          <p:cNvPr id="451" name="Google Shape;451;p16"/>
          <p:cNvSpPr txBox="1"/>
          <p:nvPr/>
        </p:nvSpPr>
        <p:spPr>
          <a:xfrm>
            <a:off x="886925" y="961050"/>
            <a:ext cx="73596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Understanding a protein's structure can help us in a variety of ways…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47"/>
              </a:buClr>
              <a:buSzPts val="1600"/>
              <a:buFont typeface="Albert Sans Light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Role in Diseases &amp; Drug Discovery: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600"/>
              <a:buFont typeface="Albert Sans Light"/>
              <a:buChar char="○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Better understand what happens to proteins affected by disease, and develop drugs that counteract that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47"/>
              </a:buClr>
              <a:buSzPts val="1600"/>
              <a:buFont typeface="Albert Sans Light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Understanding Evolution: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600"/>
              <a:buFont typeface="Albert Sans Light"/>
              <a:buChar char="○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Comparing like proteins across species and time can help us understand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on Protein Structure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Protein Structure Look Like</a:t>
            </a:r>
            <a:endParaRPr/>
          </a:p>
        </p:txBody>
      </p:sp>
      <p:sp>
        <p:nvSpPr>
          <p:cNvPr id="462" name="Google Shape;462;p18"/>
          <p:cNvSpPr txBox="1"/>
          <p:nvPr>
            <p:ph idx="1" type="body"/>
          </p:nvPr>
        </p:nvSpPr>
        <p:spPr>
          <a:xfrm>
            <a:off x="908575" y="1119350"/>
            <a:ext cx="36396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Primary: Amino acid sequence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Secondary: α-helices and β-sheets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Tertiary: 3D folding of one chain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Quaternary: Interaction of multiple chains</a:t>
            </a:r>
            <a:endParaRPr sz="1800"/>
          </a:p>
        </p:txBody>
      </p:sp>
      <p:pic>
        <p:nvPicPr>
          <p:cNvPr id="463" name="Google Shape;4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125" y="776375"/>
            <a:ext cx="2837749" cy="361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Amino Acids</a:t>
            </a:r>
            <a:endParaRPr/>
          </a:p>
        </p:txBody>
      </p:sp>
      <p:pic>
        <p:nvPicPr>
          <p:cNvPr id="469" name="Google Shape;4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875" y="963150"/>
            <a:ext cx="4305843" cy="395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850" y="1782100"/>
            <a:ext cx="3048000" cy="20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Influences How Proteins Fold?</a:t>
            </a:r>
            <a:endParaRPr/>
          </a:p>
        </p:txBody>
      </p:sp>
      <p:sp>
        <p:nvSpPr>
          <p:cNvPr id="476" name="Google Shape;476;p20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Folding influenced by: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Hydrophobic interactions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Hydrogen bonds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Ionic bonds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Disulfide bridges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Van der Waals forces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77" name="Google Shape;477;p20"/>
          <p:cNvPicPr preferRelativeResize="0"/>
          <p:nvPr/>
        </p:nvPicPr>
        <p:blipFill rotWithShape="1">
          <a:blip r:embed="rId3">
            <a:alphaModFix/>
          </a:blip>
          <a:srcRect b="25225" l="21401" r="20282" t="2514"/>
          <a:stretch/>
        </p:blipFill>
        <p:spPr>
          <a:xfrm>
            <a:off x="4681525" y="878325"/>
            <a:ext cx="3321850" cy="33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Protein Structure Determination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Techniques for Structural Biology</a:t>
            </a:r>
            <a:endParaRPr/>
          </a:p>
        </p:txBody>
      </p:sp>
      <p:pic>
        <p:nvPicPr>
          <p:cNvPr id="488" name="Google Shape;4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050" y="1519238"/>
            <a:ext cx="21717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2"/>
          <p:cNvSpPr txBox="1"/>
          <p:nvPr/>
        </p:nvSpPr>
        <p:spPr>
          <a:xfrm>
            <a:off x="688350" y="3795600"/>
            <a:ext cx="225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X ray crystallography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90" name="Google Shape;49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5975" y="1519250"/>
            <a:ext cx="2732052" cy="210502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2"/>
          <p:cNvSpPr txBox="1"/>
          <p:nvPr/>
        </p:nvSpPr>
        <p:spPr>
          <a:xfrm>
            <a:off x="3439225" y="3795600"/>
            <a:ext cx="225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NMR spectroscopy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92" name="Google Shape;49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7675" y="1519225"/>
            <a:ext cx="2105050" cy="21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2"/>
          <p:cNvSpPr txBox="1"/>
          <p:nvPr/>
        </p:nvSpPr>
        <p:spPr>
          <a:xfrm>
            <a:off x="6302650" y="3795600"/>
            <a:ext cx="225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Cryo EM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Protein Problem”</a:t>
            </a:r>
            <a:endParaRPr/>
          </a:p>
        </p:txBody>
      </p:sp>
      <p:sp>
        <p:nvSpPr>
          <p:cNvPr id="499" name="Google Shape;499;p23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methods are time and labor consuming, and require a lot of preparation in collecting materials, and work into refining the results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 easier to know the sequences of these proteins than its 3D structure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determine the structure of the protein based on the sequence?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650" y="3562350"/>
            <a:ext cx="3216700" cy="13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3"/>
          <p:cNvSpPr txBox="1"/>
          <p:nvPr/>
        </p:nvSpPr>
        <p:spPr>
          <a:xfrm>
            <a:off x="6358075" y="3814025"/>
            <a:ext cx="522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83030"/>
                </a:solidFill>
                <a:latin typeface="Albert Sans"/>
                <a:ea typeface="Albert Sans"/>
                <a:cs typeface="Albert Sans"/>
                <a:sym typeface="Albert Sans"/>
              </a:rPr>
              <a:t>?</a:t>
            </a:r>
            <a:endParaRPr sz="4300">
              <a:solidFill>
                <a:srgbClr val="38303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2152700" y="3201650"/>
            <a:ext cx="48387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83030"/>
                </a:solidFill>
                <a:latin typeface="Albert Sans"/>
                <a:ea typeface="Albert Sans"/>
                <a:cs typeface="Albert Sans"/>
                <a:sym typeface="Albert Sans"/>
              </a:rPr>
              <a:t>NOT AS EASY AS IT SOUNDS</a:t>
            </a:r>
            <a:endParaRPr b="1" sz="1700">
              <a:solidFill>
                <a:srgbClr val="38303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Protein Problem”</a:t>
            </a:r>
            <a:endParaRPr/>
          </a:p>
        </p:txBody>
      </p:sp>
      <p:sp>
        <p:nvSpPr>
          <p:cNvPr id="508" name="Google Shape;508;p24"/>
          <p:cNvSpPr txBox="1"/>
          <p:nvPr>
            <p:ph idx="1" type="body"/>
          </p:nvPr>
        </p:nvSpPr>
        <p:spPr>
          <a:xfrm>
            <a:off x="908575" y="1119350"/>
            <a:ext cx="7316400" cy="20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Proteins fold in very complex ways that rely more factors than just the peptides that make up its sequence:</a:t>
            </a:r>
            <a:endParaRPr sz="1200"/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-28575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A6B47"/>
              </a:buClr>
              <a:buSzPts val="900"/>
              <a:buFont typeface="Albert Sans Light"/>
              <a:buChar char="●"/>
            </a:pPr>
            <a:r>
              <a:rPr lang="en" sz="1200"/>
              <a:t>structure affected by number of internal and external forces, including hydrogen bonding, hydrophobic interaction, dimers, electrostatic interactions, van der Waals forces, environment, etc.</a:t>
            </a:r>
            <a:endParaRPr sz="1200"/>
          </a:p>
          <a:p>
            <a:pPr indent="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-28575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A6B47"/>
              </a:buClr>
              <a:buSzPts val="900"/>
              <a:buFont typeface="Albert Sans Light"/>
              <a:buChar char="●"/>
            </a:pPr>
            <a:r>
              <a:rPr lang="en" sz="1200"/>
              <a:t>Protein can fold in many different ways along an energy landscape, when created they follow the lowest energy landscape, but this can be hard to find</a:t>
            </a:r>
            <a:endParaRPr sz="1200"/>
          </a:p>
          <a:p>
            <a:pPr indent="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-28575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A6B47"/>
              </a:buClr>
              <a:buSzPts val="900"/>
              <a:buFont typeface="Albert Sans Light"/>
              <a:buChar char="●"/>
            </a:pPr>
            <a:r>
              <a:rPr lang="en" sz="1200"/>
              <a:t>Proteins can take on a number of different conformations depending on their role, predicting this dynamic behavior can be difficult </a:t>
            </a:r>
            <a:endParaRPr sz="1200"/>
          </a:p>
        </p:txBody>
      </p:sp>
      <p:pic>
        <p:nvPicPr>
          <p:cNvPr id="509" name="Google Shape;509;p24"/>
          <p:cNvPicPr preferRelativeResize="0"/>
          <p:nvPr/>
        </p:nvPicPr>
        <p:blipFill rotWithShape="1">
          <a:blip r:embed="rId3">
            <a:alphaModFix/>
          </a:blip>
          <a:srcRect b="0" l="2950" r="0" t="13239"/>
          <a:stretch/>
        </p:blipFill>
        <p:spPr>
          <a:xfrm>
            <a:off x="2963650" y="3320975"/>
            <a:ext cx="2955153" cy="14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4"/>
          <p:cNvSpPr txBox="1"/>
          <p:nvPr/>
        </p:nvSpPr>
        <p:spPr>
          <a:xfrm>
            <a:off x="6336854" y="3371090"/>
            <a:ext cx="1643100" cy="122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Albert Sans"/>
                <a:ea typeface="Albert Sans"/>
                <a:cs typeface="Albert Sans"/>
                <a:sym typeface="Albert Sans"/>
              </a:rPr>
              <a:t>Taking into account all these factors becomes very computationally expensive!</a:t>
            </a:r>
            <a:endParaRPr sz="1200">
              <a:solidFill>
                <a:srgbClr val="FF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 Initio Modeling and Comparative Modeling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720000" y="1015776"/>
            <a:ext cx="7704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Use shortcuts to work around this problem!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17" name="Google Shape;517;p25"/>
          <p:cNvSpPr txBox="1"/>
          <p:nvPr/>
        </p:nvSpPr>
        <p:spPr>
          <a:xfrm>
            <a:off x="1774088" y="1407225"/>
            <a:ext cx="25884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Ab initio modeling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Uses sequence and nothing else to predict structure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Limited with how long of a protein sequence it can handle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Very time consuming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Methods: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QUARK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PEPFOLD2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3dProFold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18" name="Google Shape;518;p25"/>
          <p:cNvSpPr txBox="1"/>
          <p:nvPr/>
        </p:nvSpPr>
        <p:spPr>
          <a:xfrm>
            <a:off x="4781513" y="1407225"/>
            <a:ext cx="25884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Comparative modeling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Uses known similar protein structures to predict structure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Narrows down structure quicker 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Gains inaccuracies of being limited to template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Methods: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MODELLER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400"/>
              <a:buFont typeface="Albert Sans"/>
              <a:buChar char="●"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SWISS-MODEL</a:t>
            </a:r>
            <a:endParaRPr>
              <a:solidFill>
                <a:srgbClr val="38303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AlphaFold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AlphaFold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1233100" y="1378800"/>
            <a:ext cx="30000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700"/>
              <a:buFont typeface="Albert Sans"/>
              <a:buChar char="●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AI system developed by Google DeepMind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700"/>
              <a:buFont typeface="Albert Sans"/>
              <a:buChar char="●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Predicts protein’s 3D structure from amino acid sequence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700"/>
              <a:buFont typeface="Albert Sans"/>
              <a:buChar char="●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Over 200 million entries - broad coverage of UniProt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030"/>
              </a:buClr>
              <a:buSzPts val="1700"/>
              <a:buFont typeface="Albert Sans"/>
              <a:buChar char="●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Won 2024 chemistry Nobel prize</a:t>
            </a:r>
            <a:endParaRPr sz="1700"/>
          </a:p>
        </p:txBody>
      </p:sp>
      <p:pic>
        <p:nvPicPr>
          <p:cNvPr id="530" name="Google Shape;5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450" y="1012287"/>
            <a:ext cx="3108624" cy="3024174"/>
          </a:xfrm>
          <a:prstGeom prst="rect">
            <a:avLst/>
          </a:prstGeom>
          <a:noFill/>
          <a:ln cap="flat" cmpd="sng" w="28575">
            <a:solidFill>
              <a:srgbClr val="5A6B4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AlphaFold</a:t>
            </a:r>
            <a:endParaRPr/>
          </a:p>
        </p:txBody>
      </p:sp>
      <p:sp>
        <p:nvSpPr>
          <p:cNvPr id="536" name="Google Shape;536;p28"/>
          <p:cNvSpPr txBox="1"/>
          <p:nvPr/>
        </p:nvSpPr>
        <p:spPr>
          <a:xfrm>
            <a:off x="2417400" y="1096100"/>
            <a:ext cx="4309200" cy="705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Solved the “protein folding problem”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2417400" y="2068725"/>
            <a:ext cx="4309200" cy="705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High accuracy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8" name="Google Shape;538;p28"/>
          <p:cNvSpPr txBox="1"/>
          <p:nvPr/>
        </p:nvSpPr>
        <p:spPr>
          <a:xfrm>
            <a:off x="2417400" y="2771889"/>
            <a:ext cx="4309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93% of side chains correct, 80% perfect fit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9" name="Google Shape;539;p28"/>
          <p:cNvSpPr txBox="1"/>
          <p:nvPr/>
        </p:nvSpPr>
        <p:spPr>
          <a:xfrm>
            <a:off x="2417400" y="3251086"/>
            <a:ext cx="4309200" cy="705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Accelerates research in biotechnology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0" name="Google Shape;540;p28"/>
          <p:cNvSpPr txBox="1"/>
          <p:nvPr/>
        </p:nvSpPr>
        <p:spPr>
          <a:xfrm>
            <a:off x="2417400" y="3956541"/>
            <a:ext cx="4309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Allows for targeted drugs discovery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AlphaFold</a:t>
            </a:r>
            <a:endParaRPr/>
          </a:p>
        </p:txBody>
      </p:sp>
      <p:sp>
        <p:nvSpPr>
          <p:cNvPr id="546" name="Google Shape;546;p29"/>
          <p:cNvSpPr txBox="1"/>
          <p:nvPr/>
        </p:nvSpPr>
        <p:spPr>
          <a:xfrm>
            <a:off x="825400" y="2671157"/>
            <a:ext cx="22425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Introduced a novel approach to protein folding using machine learning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7" name="Google Shape;547;p29"/>
          <p:cNvSpPr txBox="1"/>
          <p:nvPr/>
        </p:nvSpPr>
        <p:spPr>
          <a:xfrm>
            <a:off x="3450750" y="2671149"/>
            <a:ext cx="22425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Incorporated attention-based neural network causing increased accuracy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8" name="Google Shape;548;p29"/>
          <p:cNvSpPr txBox="1"/>
          <p:nvPr/>
        </p:nvSpPr>
        <p:spPr>
          <a:xfrm>
            <a:off x="6076100" y="2671154"/>
            <a:ext cx="22425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Modeled structures and interactions of proteins with DNA, RNA, ligands and ions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9" name="Google Shape;549;p29"/>
          <p:cNvSpPr txBox="1"/>
          <p:nvPr/>
        </p:nvSpPr>
        <p:spPr>
          <a:xfrm>
            <a:off x="825400" y="1962102"/>
            <a:ext cx="2242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ora"/>
                <a:ea typeface="Lora"/>
                <a:cs typeface="Lora"/>
                <a:sym typeface="Lora"/>
              </a:rPr>
              <a:t>AlphaFold 1</a:t>
            </a:r>
            <a:endParaRPr b="1" sz="2000">
              <a:solidFill>
                <a:srgbClr val="38303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50" name="Google Shape;550;p29"/>
          <p:cNvSpPr txBox="1"/>
          <p:nvPr/>
        </p:nvSpPr>
        <p:spPr>
          <a:xfrm>
            <a:off x="3450750" y="2004974"/>
            <a:ext cx="2242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ora"/>
                <a:ea typeface="Lora"/>
                <a:cs typeface="Lora"/>
                <a:sym typeface="Lora"/>
              </a:rPr>
              <a:t>AlphaFold 2</a:t>
            </a:r>
            <a:endParaRPr b="1" sz="2300">
              <a:solidFill>
                <a:srgbClr val="38303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4246623" y="13457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rgbClr val="004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6871974" y="13457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rgbClr val="6D5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1621276" y="13457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rgbClr val="6D5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9"/>
          <p:cNvSpPr txBox="1"/>
          <p:nvPr/>
        </p:nvSpPr>
        <p:spPr>
          <a:xfrm>
            <a:off x="6076100" y="1959076"/>
            <a:ext cx="2242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ora"/>
                <a:ea typeface="Lora"/>
                <a:cs typeface="Lora"/>
                <a:sym typeface="Lora"/>
              </a:rPr>
              <a:t>AlphaFold 3</a:t>
            </a:r>
            <a:endParaRPr b="1"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1761617" y="1443423"/>
            <a:ext cx="365871" cy="367325"/>
          </a:xfrm>
          <a:custGeom>
            <a:rect b="b" l="l" r="r" t="t"/>
            <a:pathLst>
              <a:path extrusionOk="0" h="19062" w="18989">
                <a:moveTo>
                  <a:pt x="16200" y="1118"/>
                </a:moveTo>
                <a:cubicBezTo>
                  <a:pt x="16650" y="1118"/>
                  <a:pt x="17056" y="1391"/>
                  <a:pt x="17228" y="1807"/>
                </a:cubicBezTo>
                <a:cubicBezTo>
                  <a:pt x="17401" y="2224"/>
                  <a:pt x="17305" y="2705"/>
                  <a:pt x="16986" y="3024"/>
                </a:cubicBezTo>
                <a:cubicBezTo>
                  <a:pt x="16773" y="3238"/>
                  <a:pt x="16487" y="3351"/>
                  <a:pt x="16197" y="3351"/>
                </a:cubicBezTo>
                <a:cubicBezTo>
                  <a:pt x="16053" y="3351"/>
                  <a:pt x="15907" y="3323"/>
                  <a:pt x="15769" y="3266"/>
                </a:cubicBezTo>
                <a:cubicBezTo>
                  <a:pt x="15352" y="3094"/>
                  <a:pt x="15080" y="2686"/>
                  <a:pt x="15080" y="2235"/>
                </a:cubicBezTo>
                <a:cubicBezTo>
                  <a:pt x="15080" y="1617"/>
                  <a:pt x="15579" y="1118"/>
                  <a:pt x="16197" y="1118"/>
                </a:cubicBezTo>
                <a:cubicBezTo>
                  <a:pt x="16198" y="1118"/>
                  <a:pt x="16199" y="1118"/>
                  <a:pt x="16200" y="1118"/>
                </a:cubicBezTo>
                <a:close/>
                <a:moveTo>
                  <a:pt x="2794" y="4542"/>
                </a:moveTo>
                <a:cubicBezTo>
                  <a:pt x="3010" y="4542"/>
                  <a:pt x="3228" y="4584"/>
                  <a:pt x="3435" y="4669"/>
                </a:cubicBezTo>
                <a:cubicBezTo>
                  <a:pt x="4061" y="4929"/>
                  <a:pt x="4469" y="5541"/>
                  <a:pt x="4469" y="6218"/>
                </a:cubicBezTo>
                <a:cubicBezTo>
                  <a:pt x="4468" y="7143"/>
                  <a:pt x="3717" y="7891"/>
                  <a:pt x="2794" y="7893"/>
                </a:cubicBezTo>
                <a:lnTo>
                  <a:pt x="2792" y="7893"/>
                </a:lnTo>
                <a:cubicBezTo>
                  <a:pt x="2115" y="7893"/>
                  <a:pt x="1504" y="7483"/>
                  <a:pt x="1246" y="6857"/>
                </a:cubicBezTo>
                <a:cubicBezTo>
                  <a:pt x="986" y="6232"/>
                  <a:pt x="1129" y="5511"/>
                  <a:pt x="1609" y="5032"/>
                </a:cubicBezTo>
                <a:cubicBezTo>
                  <a:pt x="1930" y="4712"/>
                  <a:pt x="2358" y="4542"/>
                  <a:pt x="2794" y="4542"/>
                </a:cubicBezTo>
                <a:close/>
                <a:moveTo>
                  <a:pt x="10612" y="5660"/>
                </a:moveTo>
                <a:cubicBezTo>
                  <a:pt x="12152" y="5660"/>
                  <a:pt x="13405" y="6911"/>
                  <a:pt x="13405" y="8452"/>
                </a:cubicBezTo>
                <a:cubicBezTo>
                  <a:pt x="13405" y="9993"/>
                  <a:pt x="12151" y="11244"/>
                  <a:pt x="10612" y="11244"/>
                </a:cubicBezTo>
                <a:cubicBezTo>
                  <a:pt x="9073" y="11244"/>
                  <a:pt x="7820" y="9992"/>
                  <a:pt x="7820" y="8451"/>
                </a:cubicBezTo>
                <a:lnTo>
                  <a:pt x="7820" y="8451"/>
                </a:lnTo>
                <a:cubicBezTo>
                  <a:pt x="7820" y="6912"/>
                  <a:pt x="9071" y="5660"/>
                  <a:pt x="10612" y="5660"/>
                </a:cubicBezTo>
                <a:close/>
                <a:moveTo>
                  <a:pt x="5622" y="14631"/>
                </a:moveTo>
                <a:cubicBezTo>
                  <a:pt x="5766" y="14631"/>
                  <a:pt x="5912" y="14659"/>
                  <a:pt x="6050" y="14717"/>
                </a:cubicBezTo>
                <a:cubicBezTo>
                  <a:pt x="6467" y="14890"/>
                  <a:pt x="6739" y="15297"/>
                  <a:pt x="6739" y="15749"/>
                </a:cubicBezTo>
                <a:cubicBezTo>
                  <a:pt x="6739" y="16365"/>
                  <a:pt x="6239" y="16866"/>
                  <a:pt x="5623" y="16866"/>
                </a:cubicBezTo>
                <a:cubicBezTo>
                  <a:pt x="5170" y="16866"/>
                  <a:pt x="4764" y="16594"/>
                  <a:pt x="4590" y="16177"/>
                </a:cubicBezTo>
                <a:cubicBezTo>
                  <a:pt x="4418" y="15758"/>
                  <a:pt x="4514" y="15279"/>
                  <a:pt x="4832" y="14959"/>
                </a:cubicBezTo>
                <a:cubicBezTo>
                  <a:pt x="5046" y="14745"/>
                  <a:pt x="5332" y="14631"/>
                  <a:pt x="5622" y="14631"/>
                </a:cubicBezTo>
                <a:close/>
                <a:moveTo>
                  <a:pt x="16196" y="14595"/>
                </a:moveTo>
                <a:cubicBezTo>
                  <a:pt x="16412" y="14595"/>
                  <a:pt x="16630" y="14637"/>
                  <a:pt x="16838" y="14723"/>
                </a:cubicBezTo>
                <a:cubicBezTo>
                  <a:pt x="17464" y="14981"/>
                  <a:pt x="17872" y="15593"/>
                  <a:pt x="17872" y="16270"/>
                </a:cubicBezTo>
                <a:cubicBezTo>
                  <a:pt x="17870" y="17195"/>
                  <a:pt x="17122" y="17945"/>
                  <a:pt x="16197" y="17945"/>
                </a:cubicBezTo>
                <a:cubicBezTo>
                  <a:pt x="15518" y="17945"/>
                  <a:pt x="14908" y="17537"/>
                  <a:pt x="14648" y="16911"/>
                </a:cubicBezTo>
                <a:cubicBezTo>
                  <a:pt x="14390" y="16284"/>
                  <a:pt x="14533" y="15564"/>
                  <a:pt x="15011" y="15086"/>
                </a:cubicBezTo>
                <a:cubicBezTo>
                  <a:pt x="15332" y="14765"/>
                  <a:pt x="15761" y="14595"/>
                  <a:pt x="16196" y="14595"/>
                </a:cubicBezTo>
                <a:close/>
                <a:moveTo>
                  <a:pt x="16197" y="0"/>
                </a:moveTo>
                <a:cubicBezTo>
                  <a:pt x="14403" y="0"/>
                  <a:pt x="13344" y="2018"/>
                  <a:pt x="14351" y="3490"/>
                </a:cubicBezTo>
                <a:lnTo>
                  <a:pt x="12803" y="5215"/>
                </a:lnTo>
                <a:cubicBezTo>
                  <a:pt x="12132" y="4759"/>
                  <a:pt x="11370" y="4542"/>
                  <a:pt x="10617" y="4542"/>
                </a:cubicBezTo>
                <a:cubicBezTo>
                  <a:pt x="9218" y="4542"/>
                  <a:pt x="7847" y="5292"/>
                  <a:pt x="7138" y="6657"/>
                </a:cubicBezTo>
                <a:lnTo>
                  <a:pt x="5584" y="6295"/>
                </a:lnTo>
                <a:cubicBezTo>
                  <a:pt x="5627" y="4714"/>
                  <a:pt x="4354" y="3424"/>
                  <a:pt x="2794" y="3424"/>
                </a:cubicBezTo>
                <a:cubicBezTo>
                  <a:pt x="1253" y="3424"/>
                  <a:pt x="1" y="4677"/>
                  <a:pt x="1" y="6218"/>
                </a:cubicBezTo>
                <a:cubicBezTo>
                  <a:pt x="1" y="7758"/>
                  <a:pt x="1253" y="9009"/>
                  <a:pt x="2794" y="9009"/>
                </a:cubicBezTo>
                <a:cubicBezTo>
                  <a:pt x="3883" y="9008"/>
                  <a:pt x="4874" y="8373"/>
                  <a:pt x="5330" y="7383"/>
                </a:cubicBezTo>
                <a:lnTo>
                  <a:pt x="6771" y="7720"/>
                </a:lnTo>
                <a:cubicBezTo>
                  <a:pt x="6517" y="9048"/>
                  <a:pt x="6970" y="10414"/>
                  <a:pt x="7968" y="11329"/>
                </a:cubicBezTo>
                <a:lnTo>
                  <a:pt x="6382" y="13648"/>
                </a:lnTo>
                <a:cubicBezTo>
                  <a:pt x="6128" y="13556"/>
                  <a:pt x="5872" y="13513"/>
                  <a:pt x="5621" y="13513"/>
                </a:cubicBezTo>
                <a:cubicBezTo>
                  <a:pt x="4439" y="13513"/>
                  <a:pt x="3389" y="14472"/>
                  <a:pt x="3389" y="15748"/>
                </a:cubicBezTo>
                <a:cubicBezTo>
                  <a:pt x="3390" y="16981"/>
                  <a:pt x="4390" y="17981"/>
                  <a:pt x="5623" y="17982"/>
                </a:cubicBezTo>
                <a:cubicBezTo>
                  <a:pt x="7539" y="17982"/>
                  <a:pt x="8561" y="15717"/>
                  <a:pt x="7304" y="14279"/>
                </a:cubicBezTo>
                <a:lnTo>
                  <a:pt x="8890" y="11959"/>
                </a:lnTo>
                <a:cubicBezTo>
                  <a:pt x="9434" y="12227"/>
                  <a:pt x="10024" y="12360"/>
                  <a:pt x="10612" y="12360"/>
                </a:cubicBezTo>
                <a:cubicBezTo>
                  <a:pt x="11315" y="12360"/>
                  <a:pt x="12015" y="12171"/>
                  <a:pt x="12634" y="11795"/>
                </a:cubicBezTo>
                <a:lnTo>
                  <a:pt x="14240" y="14277"/>
                </a:lnTo>
                <a:cubicBezTo>
                  <a:pt x="12463" y="16023"/>
                  <a:pt x="13704" y="19061"/>
                  <a:pt x="16195" y="19061"/>
                </a:cubicBezTo>
                <a:cubicBezTo>
                  <a:pt x="17734" y="19061"/>
                  <a:pt x="18988" y="17810"/>
                  <a:pt x="18988" y="16270"/>
                </a:cubicBezTo>
                <a:cubicBezTo>
                  <a:pt x="18988" y="14674"/>
                  <a:pt x="17675" y="13475"/>
                  <a:pt x="16197" y="13475"/>
                </a:cubicBezTo>
                <a:cubicBezTo>
                  <a:pt x="15862" y="13475"/>
                  <a:pt x="15518" y="13537"/>
                  <a:pt x="15179" y="13670"/>
                </a:cubicBezTo>
                <a:lnTo>
                  <a:pt x="15179" y="13670"/>
                </a:lnTo>
                <a:lnTo>
                  <a:pt x="13502" y="11081"/>
                </a:lnTo>
                <a:cubicBezTo>
                  <a:pt x="14811" y="9646"/>
                  <a:pt x="14865" y="7465"/>
                  <a:pt x="13628" y="5968"/>
                </a:cubicBezTo>
                <a:lnTo>
                  <a:pt x="15191" y="4227"/>
                </a:lnTo>
                <a:cubicBezTo>
                  <a:pt x="15519" y="4393"/>
                  <a:pt x="15860" y="4469"/>
                  <a:pt x="16193" y="4469"/>
                </a:cubicBezTo>
                <a:cubicBezTo>
                  <a:pt x="17364" y="4469"/>
                  <a:pt x="18429" y="3526"/>
                  <a:pt x="18429" y="2233"/>
                </a:cubicBezTo>
                <a:cubicBezTo>
                  <a:pt x="18428" y="1000"/>
                  <a:pt x="17430" y="0"/>
                  <a:pt x="16197" y="0"/>
                </a:cubicBezTo>
                <a:close/>
              </a:path>
            </a:pathLst>
          </a:custGeom>
          <a:solidFill>
            <a:srgbClr val="F7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" name="Google Shape;556;p29"/>
          <p:cNvGrpSpPr/>
          <p:nvPr/>
        </p:nvGrpSpPr>
        <p:grpSpPr>
          <a:xfrm>
            <a:off x="7016493" y="1444531"/>
            <a:ext cx="383360" cy="360174"/>
            <a:chOff x="6618368" y="4027381"/>
            <a:chExt cx="383360" cy="360174"/>
          </a:xfrm>
        </p:grpSpPr>
        <p:sp>
          <p:nvSpPr>
            <p:cNvPr id="557" name="Google Shape;557;p29"/>
            <p:cNvSpPr/>
            <p:nvPr/>
          </p:nvSpPr>
          <p:spPr>
            <a:xfrm>
              <a:off x="6618368" y="4027381"/>
              <a:ext cx="243313" cy="214598"/>
            </a:xfrm>
            <a:custGeom>
              <a:rect b="b" l="l" r="r" t="t"/>
              <a:pathLst>
                <a:path extrusionOk="0" h="7182" w="8143">
                  <a:moveTo>
                    <a:pt x="4258" y="707"/>
                  </a:moveTo>
                  <a:cubicBezTo>
                    <a:pt x="4478" y="707"/>
                    <a:pt x="4659" y="887"/>
                    <a:pt x="4659" y="1108"/>
                  </a:cubicBezTo>
                  <a:cubicBezTo>
                    <a:pt x="4647" y="1374"/>
                    <a:pt x="4453" y="1507"/>
                    <a:pt x="4258" y="1507"/>
                  </a:cubicBezTo>
                  <a:cubicBezTo>
                    <a:pt x="4064" y="1507"/>
                    <a:pt x="3869" y="1374"/>
                    <a:pt x="3858" y="1108"/>
                  </a:cubicBezTo>
                  <a:cubicBezTo>
                    <a:pt x="3858" y="888"/>
                    <a:pt x="4038" y="707"/>
                    <a:pt x="4258" y="707"/>
                  </a:cubicBezTo>
                  <a:close/>
                  <a:moveTo>
                    <a:pt x="4257" y="4076"/>
                  </a:moveTo>
                  <a:cubicBezTo>
                    <a:pt x="4452" y="4076"/>
                    <a:pt x="4646" y="4209"/>
                    <a:pt x="4657" y="4474"/>
                  </a:cubicBezTo>
                  <a:cubicBezTo>
                    <a:pt x="4659" y="4696"/>
                    <a:pt x="4479" y="4876"/>
                    <a:pt x="4258" y="4876"/>
                  </a:cubicBezTo>
                  <a:cubicBezTo>
                    <a:pt x="4038" y="4876"/>
                    <a:pt x="3856" y="4696"/>
                    <a:pt x="3856" y="4474"/>
                  </a:cubicBezTo>
                  <a:cubicBezTo>
                    <a:pt x="3868" y="4209"/>
                    <a:pt x="4062" y="4076"/>
                    <a:pt x="4257" y="4076"/>
                  </a:cubicBezTo>
                  <a:close/>
                  <a:moveTo>
                    <a:pt x="1468" y="5676"/>
                  </a:moveTo>
                  <a:cubicBezTo>
                    <a:pt x="1663" y="5676"/>
                    <a:pt x="1857" y="5809"/>
                    <a:pt x="1868" y="6075"/>
                  </a:cubicBezTo>
                  <a:cubicBezTo>
                    <a:pt x="1869" y="6296"/>
                    <a:pt x="1689" y="6476"/>
                    <a:pt x="1469" y="6476"/>
                  </a:cubicBezTo>
                  <a:cubicBezTo>
                    <a:pt x="1248" y="6476"/>
                    <a:pt x="1068" y="6296"/>
                    <a:pt x="1068" y="6075"/>
                  </a:cubicBezTo>
                  <a:cubicBezTo>
                    <a:pt x="1079" y="5809"/>
                    <a:pt x="1273" y="5676"/>
                    <a:pt x="1468" y="5676"/>
                  </a:cubicBezTo>
                  <a:close/>
                  <a:moveTo>
                    <a:pt x="7033" y="5676"/>
                  </a:moveTo>
                  <a:cubicBezTo>
                    <a:pt x="7228" y="5676"/>
                    <a:pt x="7422" y="5809"/>
                    <a:pt x="7434" y="6075"/>
                  </a:cubicBezTo>
                  <a:cubicBezTo>
                    <a:pt x="7435" y="6296"/>
                    <a:pt x="7254" y="6476"/>
                    <a:pt x="7034" y="6476"/>
                  </a:cubicBezTo>
                  <a:cubicBezTo>
                    <a:pt x="6814" y="6476"/>
                    <a:pt x="6632" y="6296"/>
                    <a:pt x="6632" y="6075"/>
                  </a:cubicBezTo>
                  <a:cubicBezTo>
                    <a:pt x="6644" y="5809"/>
                    <a:pt x="6838" y="5676"/>
                    <a:pt x="7033" y="5676"/>
                  </a:cubicBezTo>
                  <a:close/>
                  <a:moveTo>
                    <a:pt x="4258" y="1"/>
                  </a:moveTo>
                  <a:cubicBezTo>
                    <a:pt x="3001" y="25"/>
                    <a:pt x="2735" y="1742"/>
                    <a:pt x="3905" y="2156"/>
                  </a:cubicBezTo>
                  <a:lnTo>
                    <a:pt x="3905" y="3426"/>
                  </a:lnTo>
                  <a:cubicBezTo>
                    <a:pt x="3395" y="3588"/>
                    <a:pt x="3055" y="4149"/>
                    <a:pt x="3173" y="4692"/>
                  </a:cubicBezTo>
                  <a:lnTo>
                    <a:pt x="2206" y="5250"/>
                  </a:lnTo>
                  <a:cubicBezTo>
                    <a:pt x="2011" y="5075"/>
                    <a:pt x="1751" y="4968"/>
                    <a:pt x="1469" y="4968"/>
                  </a:cubicBezTo>
                  <a:cubicBezTo>
                    <a:pt x="1" y="5027"/>
                    <a:pt x="1" y="7120"/>
                    <a:pt x="1469" y="7180"/>
                  </a:cubicBezTo>
                  <a:cubicBezTo>
                    <a:pt x="1472" y="7180"/>
                    <a:pt x="1476" y="7180"/>
                    <a:pt x="1480" y="7180"/>
                  </a:cubicBezTo>
                  <a:cubicBezTo>
                    <a:pt x="2161" y="7180"/>
                    <a:pt x="2691" y="6531"/>
                    <a:pt x="2554" y="5864"/>
                  </a:cubicBezTo>
                  <a:lnTo>
                    <a:pt x="3527" y="5303"/>
                  </a:lnTo>
                  <a:cubicBezTo>
                    <a:pt x="3726" y="5485"/>
                    <a:pt x="3992" y="5577"/>
                    <a:pt x="4258" y="5577"/>
                  </a:cubicBezTo>
                  <a:cubicBezTo>
                    <a:pt x="4513" y="5577"/>
                    <a:pt x="4768" y="5493"/>
                    <a:pt x="4963" y="5324"/>
                  </a:cubicBezTo>
                  <a:lnTo>
                    <a:pt x="5946" y="5869"/>
                  </a:lnTo>
                  <a:cubicBezTo>
                    <a:pt x="5813" y="6534"/>
                    <a:pt x="6343" y="7181"/>
                    <a:pt x="7022" y="7181"/>
                  </a:cubicBezTo>
                  <a:cubicBezTo>
                    <a:pt x="7026" y="7181"/>
                    <a:pt x="7029" y="7181"/>
                    <a:pt x="7033" y="7181"/>
                  </a:cubicBezTo>
                  <a:cubicBezTo>
                    <a:pt x="7034" y="7181"/>
                    <a:pt x="7034" y="7181"/>
                    <a:pt x="7035" y="7181"/>
                  </a:cubicBezTo>
                  <a:cubicBezTo>
                    <a:pt x="7646" y="7181"/>
                    <a:pt x="8140" y="6685"/>
                    <a:pt x="8140" y="6075"/>
                  </a:cubicBezTo>
                  <a:cubicBezTo>
                    <a:pt x="8142" y="5414"/>
                    <a:pt x="7591" y="4969"/>
                    <a:pt x="7021" y="4969"/>
                  </a:cubicBezTo>
                  <a:cubicBezTo>
                    <a:pt x="6766" y="4969"/>
                    <a:pt x="6508" y="5057"/>
                    <a:pt x="6293" y="5255"/>
                  </a:cubicBezTo>
                  <a:lnTo>
                    <a:pt x="5336" y="4724"/>
                  </a:lnTo>
                  <a:cubicBezTo>
                    <a:pt x="5473" y="4175"/>
                    <a:pt x="5130" y="3591"/>
                    <a:pt x="4611" y="3426"/>
                  </a:cubicBezTo>
                  <a:lnTo>
                    <a:pt x="4611" y="2156"/>
                  </a:lnTo>
                  <a:cubicBezTo>
                    <a:pt x="5781" y="1742"/>
                    <a:pt x="5514" y="25"/>
                    <a:pt x="425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829022" y="4172986"/>
              <a:ext cx="172706" cy="214568"/>
            </a:xfrm>
            <a:custGeom>
              <a:rect b="b" l="l" r="r" t="t"/>
              <a:pathLst>
                <a:path extrusionOk="0" h="7181" w="5780">
                  <a:moveTo>
                    <a:pt x="4257" y="707"/>
                  </a:moveTo>
                  <a:cubicBezTo>
                    <a:pt x="4477" y="707"/>
                    <a:pt x="4657" y="887"/>
                    <a:pt x="4657" y="1109"/>
                  </a:cubicBezTo>
                  <a:cubicBezTo>
                    <a:pt x="4646" y="1374"/>
                    <a:pt x="4452" y="1507"/>
                    <a:pt x="4257" y="1507"/>
                  </a:cubicBezTo>
                  <a:cubicBezTo>
                    <a:pt x="4063" y="1507"/>
                    <a:pt x="3868" y="1374"/>
                    <a:pt x="3857" y="1109"/>
                  </a:cubicBezTo>
                  <a:cubicBezTo>
                    <a:pt x="3857" y="889"/>
                    <a:pt x="4036" y="707"/>
                    <a:pt x="4257" y="707"/>
                  </a:cubicBezTo>
                  <a:close/>
                  <a:moveTo>
                    <a:pt x="4256" y="4076"/>
                  </a:moveTo>
                  <a:cubicBezTo>
                    <a:pt x="4451" y="4076"/>
                    <a:pt x="4645" y="4209"/>
                    <a:pt x="4656" y="4475"/>
                  </a:cubicBezTo>
                  <a:cubicBezTo>
                    <a:pt x="4657" y="4695"/>
                    <a:pt x="4477" y="4875"/>
                    <a:pt x="4257" y="4875"/>
                  </a:cubicBezTo>
                  <a:cubicBezTo>
                    <a:pt x="4036" y="4875"/>
                    <a:pt x="3856" y="4696"/>
                    <a:pt x="3856" y="4475"/>
                  </a:cubicBezTo>
                  <a:cubicBezTo>
                    <a:pt x="3867" y="4209"/>
                    <a:pt x="4062" y="4076"/>
                    <a:pt x="4256" y="4076"/>
                  </a:cubicBezTo>
                  <a:close/>
                  <a:moveTo>
                    <a:pt x="1472" y="5676"/>
                  </a:moveTo>
                  <a:cubicBezTo>
                    <a:pt x="1604" y="5676"/>
                    <a:pt x="1736" y="5740"/>
                    <a:pt x="1816" y="5880"/>
                  </a:cubicBezTo>
                  <a:cubicBezTo>
                    <a:pt x="1816" y="5882"/>
                    <a:pt x="1818" y="5882"/>
                    <a:pt x="1818" y="5883"/>
                  </a:cubicBezTo>
                  <a:cubicBezTo>
                    <a:pt x="1819" y="5884"/>
                    <a:pt x="1819" y="5885"/>
                    <a:pt x="1820" y="5888"/>
                  </a:cubicBezTo>
                  <a:cubicBezTo>
                    <a:pt x="1963" y="6144"/>
                    <a:pt x="1768" y="6477"/>
                    <a:pt x="1471" y="6477"/>
                  </a:cubicBezTo>
                  <a:cubicBezTo>
                    <a:pt x="1470" y="6477"/>
                    <a:pt x="1469" y="6477"/>
                    <a:pt x="1467" y="6477"/>
                  </a:cubicBezTo>
                  <a:cubicBezTo>
                    <a:pt x="1247" y="6477"/>
                    <a:pt x="1067" y="6297"/>
                    <a:pt x="1067" y="6075"/>
                  </a:cubicBezTo>
                  <a:cubicBezTo>
                    <a:pt x="1070" y="5825"/>
                    <a:pt x="1270" y="5676"/>
                    <a:pt x="1472" y="5676"/>
                  </a:cubicBezTo>
                  <a:close/>
                  <a:moveTo>
                    <a:pt x="4257" y="0"/>
                  </a:moveTo>
                  <a:cubicBezTo>
                    <a:pt x="3001" y="25"/>
                    <a:pt x="2734" y="1742"/>
                    <a:pt x="3903" y="2156"/>
                  </a:cubicBezTo>
                  <a:lnTo>
                    <a:pt x="3903" y="3426"/>
                  </a:lnTo>
                  <a:cubicBezTo>
                    <a:pt x="3394" y="3589"/>
                    <a:pt x="3054" y="4149"/>
                    <a:pt x="3172" y="4692"/>
                  </a:cubicBezTo>
                  <a:lnTo>
                    <a:pt x="2205" y="5250"/>
                  </a:lnTo>
                  <a:cubicBezTo>
                    <a:pt x="2009" y="5075"/>
                    <a:pt x="1751" y="4968"/>
                    <a:pt x="1467" y="4968"/>
                  </a:cubicBezTo>
                  <a:cubicBezTo>
                    <a:pt x="0" y="5028"/>
                    <a:pt x="0" y="7120"/>
                    <a:pt x="1467" y="7180"/>
                  </a:cubicBezTo>
                  <a:cubicBezTo>
                    <a:pt x="1472" y="7180"/>
                    <a:pt x="1476" y="7180"/>
                    <a:pt x="1480" y="7180"/>
                  </a:cubicBezTo>
                  <a:cubicBezTo>
                    <a:pt x="2160" y="7180"/>
                    <a:pt x="2690" y="6531"/>
                    <a:pt x="2553" y="5864"/>
                  </a:cubicBezTo>
                  <a:lnTo>
                    <a:pt x="3525" y="5304"/>
                  </a:lnTo>
                  <a:cubicBezTo>
                    <a:pt x="3739" y="5494"/>
                    <a:pt x="3993" y="5580"/>
                    <a:pt x="4243" y="5580"/>
                  </a:cubicBezTo>
                  <a:cubicBezTo>
                    <a:pt x="4814" y="5580"/>
                    <a:pt x="5365" y="5134"/>
                    <a:pt x="5363" y="4474"/>
                  </a:cubicBezTo>
                  <a:cubicBezTo>
                    <a:pt x="5363" y="3988"/>
                    <a:pt x="5048" y="3574"/>
                    <a:pt x="4610" y="3426"/>
                  </a:cubicBezTo>
                  <a:lnTo>
                    <a:pt x="4610" y="2156"/>
                  </a:lnTo>
                  <a:cubicBezTo>
                    <a:pt x="5780" y="1742"/>
                    <a:pt x="5513" y="25"/>
                    <a:pt x="4257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29"/>
          <p:cNvGrpSpPr/>
          <p:nvPr/>
        </p:nvGrpSpPr>
        <p:grpSpPr>
          <a:xfrm>
            <a:off x="4391150" y="1406885"/>
            <a:ext cx="361697" cy="359994"/>
            <a:chOff x="1492036" y="3390010"/>
            <a:chExt cx="361697" cy="359994"/>
          </a:xfrm>
        </p:grpSpPr>
        <p:sp>
          <p:nvSpPr>
            <p:cNvPr id="560" name="Google Shape;560;p29"/>
            <p:cNvSpPr/>
            <p:nvPr/>
          </p:nvSpPr>
          <p:spPr>
            <a:xfrm>
              <a:off x="1492036" y="3390010"/>
              <a:ext cx="361697" cy="359994"/>
            </a:xfrm>
            <a:custGeom>
              <a:rect b="b" l="l" r="r" t="t"/>
              <a:pathLst>
                <a:path extrusionOk="0" h="12048" w="12105">
                  <a:moveTo>
                    <a:pt x="6972" y="1268"/>
                  </a:moveTo>
                  <a:lnTo>
                    <a:pt x="8595" y="2205"/>
                  </a:lnTo>
                  <a:lnTo>
                    <a:pt x="8595" y="2631"/>
                  </a:lnTo>
                  <a:lnTo>
                    <a:pt x="7067" y="2631"/>
                  </a:lnTo>
                  <a:cubicBezTo>
                    <a:pt x="6872" y="2631"/>
                    <a:pt x="6713" y="2787"/>
                    <a:pt x="6713" y="2984"/>
                  </a:cubicBezTo>
                  <a:lnTo>
                    <a:pt x="6713" y="3360"/>
                  </a:lnTo>
                  <a:lnTo>
                    <a:pt x="5348" y="3360"/>
                  </a:lnTo>
                  <a:lnTo>
                    <a:pt x="5348" y="2205"/>
                  </a:lnTo>
                  <a:lnTo>
                    <a:pt x="6972" y="1268"/>
                  </a:lnTo>
                  <a:close/>
                  <a:moveTo>
                    <a:pt x="9327" y="3338"/>
                  </a:moveTo>
                  <a:lnTo>
                    <a:pt x="9327" y="4045"/>
                  </a:lnTo>
                  <a:lnTo>
                    <a:pt x="7420" y="4045"/>
                  </a:lnTo>
                  <a:lnTo>
                    <a:pt x="7420" y="3338"/>
                  </a:lnTo>
                  <a:close/>
                  <a:moveTo>
                    <a:pt x="3016" y="1269"/>
                  </a:moveTo>
                  <a:lnTo>
                    <a:pt x="4640" y="2206"/>
                  </a:lnTo>
                  <a:lnTo>
                    <a:pt x="4640" y="4082"/>
                  </a:lnTo>
                  <a:lnTo>
                    <a:pt x="3016" y="5019"/>
                  </a:lnTo>
                  <a:lnTo>
                    <a:pt x="1393" y="4082"/>
                  </a:lnTo>
                  <a:lnTo>
                    <a:pt x="1393" y="2206"/>
                  </a:lnTo>
                  <a:lnTo>
                    <a:pt x="3016" y="1269"/>
                  </a:lnTo>
                  <a:close/>
                  <a:moveTo>
                    <a:pt x="4641" y="4932"/>
                  </a:moveTo>
                  <a:lnTo>
                    <a:pt x="4641" y="8206"/>
                  </a:lnTo>
                  <a:lnTo>
                    <a:pt x="3430" y="7507"/>
                  </a:lnTo>
                  <a:lnTo>
                    <a:pt x="3430" y="5632"/>
                  </a:lnTo>
                  <a:lnTo>
                    <a:pt x="4641" y="4932"/>
                  </a:lnTo>
                  <a:close/>
                  <a:moveTo>
                    <a:pt x="11398" y="4068"/>
                  </a:moveTo>
                  <a:lnTo>
                    <a:pt x="11398" y="11343"/>
                  </a:lnTo>
                  <a:lnTo>
                    <a:pt x="5348" y="11343"/>
                  </a:lnTo>
                  <a:lnTo>
                    <a:pt x="5348" y="4068"/>
                  </a:lnTo>
                  <a:lnTo>
                    <a:pt x="6713" y="4068"/>
                  </a:lnTo>
                  <a:lnTo>
                    <a:pt x="6713" y="4398"/>
                  </a:lnTo>
                  <a:cubicBezTo>
                    <a:pt x="6713" y="4592"/>
                    <a:pt x="6870" y="4751"/>
                    <a:pt x="7067" y="4751"/>
                  </a:cubicBezTo>
                  <a:lnTo>
                    <a:pt x="9680" y="4751"/>
                  </a:lnTo>
                  <a:cubicBezTo>
                    <a:pt x="9875" y="4751"/>
                    <a:pt x="10033" y="4593"/>
                    <a:pt x="10033" y="4398"/>
                  </a:cubicBezTo>
                  <a:lnTo>
                    <a:pt x="10033" y="4068"/>
                  </a:lnTo>
                  <a:close/>
                  <a:moveTo>
                    <a:pt x="3017" y="0"/>
                  </a:moveTo>
                  <a:cubicBezTo>
                    <a:pt x="2846" y="0"/>
                    <a:pt x="2674" y="118"/>
                    <a:pt x="2664" y="352"/>
                  </a:cubicBezTo>
                  <a:lnTo>
                    <a:pt x="2664" y="656"/>
                  </a:lnTo>
                  <a:lnTo>
                    <a:pt x="862" y="1695"/>
                  </a:lnTo>
                  <a:cubicBezTo>
                    <a:pt x="754" y="1758"/>
                    <a:pt x="686" y="1875"/>
                    <a:pt x="686" y="2002"/>
                  </a:cubicBezTo>
                  <a:lnTo>
                    <a:pt x="686" y="4093"/>
                  </a:lnTo>
                  <a:lnTo>
                    <a:pt x="210" y="4408"/>
                  </a:lnTo>
                  <a:cubicBezTo>
                    <a:pt x="47" y="4515"/>
                    <a:pt x="1" y="4734"/>
                    <a:pt x="108" y="4896"/>
                  </a:cubicBezTo>
                  <a:cubicBezTo>
                    <a:pt x="176" y="5000"/>
                    <a:pt x="289" y="5056"/>
                    <a:pt x="404" y="5056"/>
                  </a:cubicBezTo>
                  <a:cubicBezTo>
                    <a:pt x="471" y="5056"/>
                    <a:pt x="538" y="5037"/>
                    <a:pt x="598" y="4998"/>
                  </a:cubicBezTo>
                  <a:lnTo>
                    <a:pt x="1051" y="4700"/>
                  </a:lnTo>
                  <a:lnTo>
                    <a:pt x="2723" y="5665"/>
                  </a:lnTo>
                  <a:lnTo>
                    <a:pt x="2723" y="7544"/>
                  </a:lnTo>
                  <a:lnTo>
                    <a:pt x="1451" y="8603"/>
                  </a:lnTo>
                  <a:cubicBezTo>
                    <a:pt x="1302" y="8727"/>
                    <a:pt x="1281" y="8949"/>
                    <a:pt x="1405" y="9099"/>
                  </a:cubicBezTo>
                  <a:cubicBezTo>
                    <a:pt x="1476" y="9184"/>
                    <a:pt x="1576" y="9227"/>
                    <a:pt x="1677" y="9227"/>
                  </a:cubicBezTo>
                  <a:cubicBezTo>
                    <a:pt x="1757" y="9227"/>
                    <a:pt x="1836" y="9200"/>
                    <a:pt x="1902" y="9146"/>
                  </a:cubicBezTo>
                  <a:lnTo>
                    <a:pt x="3113" y="8139"/>
                  </a:lnTo>
                  <a:lnTo>
                    <a:pt x="4640" y="9021"/>
                  </a:lnTo>
                  <a:lnTo>
                    <a:pt x="4640" y="11694"/>
                  </a:lnTo>
                  <a:cubicBezTo>
                    <a:pt x="4640" y="11889"/>
                    <a:pt x="4797" y="12048"/>
                    <a:pt x="4993" y="12048"/>
                  </a:cubicBezTo>
                  <a:lnTo>
                    <a:pt x="11750" y="12048"/>
                  </a:lnTo>
                  <a:cubicBezTo>
                    <a:pt x="11945" y="12048"/>
                    <a:pt x="12104" y="11891"/>
                    <a:pt x="12104" y="11694"/>
                  </a:cubicBezTo>
                  <a:lnTo>
                    <a:pt x="12104" y="3713"/>
                  </a:lnTo>
                  <a:cubicBezTo>
                    <a:pt x="12105" y="3520"/>
                    <a:pt x="11946" y="3361"/>
                    <a:pt x="11751" y="3361"/>
                  </a:cubicBezTo>
                  <a:lnTo>
                    <a:pt x="10033" y="3361"/>
                  </a:lnTo>
                  <a:lnTo>
                    <a:pt x="10033" y="2985"/>
                  </a:lnTo>
                  <a:cubicBezTo>
                    <a:pt x="10033" y="2790"/>
                    <a:pt x="9876" y="2632"/>
                    <a:pt x="9680" y="2632"/>
                  </a:cubicBezTo>
                  <a:lnTo>
                    <a:pt x="9302" y="2632"/>
                  </a:lnTo>
                  <a:lnTo>
                    <a:pt x="9302" y="2002"/>
                  </a:lnTo>
                  <a:cubicBezTo>
                    <a:pt x="9302" y="1875"/>
                    <a:pt x="9234" y="1758"/>
                    <a:pt x="9126" y="1695"/>
                  </a:cubicBezTo>
                  <a:lnTo>
                    <a:pt x="7149" y="553"/>
                  </a:lnTo>
                  <a:cubicBezTo>
                    <a:pt x="7094" y="522"/>
                    <a:pt x="7033" y="506"/>
                    <a:pt x="6972" y="506"/>
                  </a:cubicBezTo>
                  <a:cubicBezTo>
                    <a:pt x="6911" y="506"/>
                    <a:pt x="6850" y="522"/>
                    <a:pt x="6795" y="553"/>
                  </a:cubicBezTo>
                  <a:lnTo>
                    <a:pt x="4994" y="1593"/>
                  </a:lnTo>
                  <a:lnTo>
                    <a:pt x="3371" y="656"/>
                  </a:lnTo>
                  <a:lnTo>
                    <a:pt x="3371" y="352"/>
                  </a:lnTo>
                  <a:cubicBezTo>
                    <a:pt x="3361" y="118"/>
                    <a:pt x="3189" y="0"/>
                    <a:pt x="3017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1697371" y="3553006"/>
              <a:ext cx="89760" cy="21155"/>
            </a:xfrm>
            <a:custGeom>
              <a:rect b="b" l="l" r="r" t="t"/>
              <a:pathLst>
                <a:path extrusionOk="0" h="708" w="3004">
                  <a:moveTo>
                    <a:pt x="468" y="1"/>
                  </a:moveTo>
                  <a:cubicBezTo>
                    <a:pt x="0" y="20"/>
                    <a:pt x="0" y="690"/>
                    <a:pt x="468" y="708"/>
                  </a:cubicBezTo>
                  <a:lnTo>
                    <a:pt x="2535" y="708"/>
                  </a:lnTo>
                  <a:cubicBezTo>
                    <a:pt x="3004" y="689"/>
                    <a:pt x="3004" y="20"/>
                    <a:pt x="2535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1669433" y="3595256"/>
              <a:ext cx="145516" cy="21155"/>
            </a:xfrm>
            <a:custGeom>
              <a:rect b="b" l="l" r="r" t="t"/>
              <a:pathLst>
                <a:path extrusionOk="0" h="708" w="4870">
                  <a:moveTo>
                    <a:pt x="470" y="0"/>
                  </a:moveTo>
                  <a:cubicBezTo>
                    <a:pt x="1" y="20"/>
                    <a:pt x="1" y="689"/>
                    <a:pt x="470" y="707"/>
                  </a:cubicBezTo>
                  <a:lnTo>
                    <a:pt x="4401" y="707"/>
                  </a:lnTo>
                  <a:cubicBezTo>
                    <a:pt x="4870" y="689"/>
                    <a:pt x="4870" y="20"/>
                    <a:pt x="440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1669463" y="3637476"/>
              <a:ext cx="145516" cy="21125"/>
            </a:xfrm>
            <a:custGeom>
              <a:rect b="b" l="l" r="r" t="t"/>
              <a:pathLst>
                <a:path extrusionOk="0" h="707" w="4870">
                  <a:moveTo>
                    <a:pt x="470" y="0"/>
                  </a:moveTo>
                  <a:cubicBezTo>
                    <a:pt x="1" y="19"/>
                    <a:pt x="1" y="687"/>
                    <a:pt x="470" y="707"/>
                  </a:cubicBezTo>
                  <a:lnTo>
                    <a:pt x="4402" y="707"/>
                  </a:lnTo>
                  <a:cubicBezTo>
                    <a:pt x="4870" y="687"/>
                    <a:pt x="4870" y="18"/>
                    <a:pt x="440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1669463" y="3679667"/>
              <a:ext cx="145516" cy="21155"/>
            </a:xfrm>
            <a:custGeom>
              <a:rect b="b" l="l" r="r" t="t"/>
              <a:pathLst>
                <a:path extrusionOk="0" h="708" w="4870">
                  <a:moveTo>
                    <a:pt x="470" y="1"/>
                  </a:moveTo>
                  <a:cubicBezTo>
                    <a:pt x="1" y="20"/>
                    <a:pt x="1" y="688"/>
                    <a:pt x="470" y="707"/>
                  </a:cubicBezTo>
                  <a:lnTo>
                    <a:pt x="4402" y="707"/>
                  </a:lnTo>
                  <a:cubicBezTo>
                    <a:pt x="4870" y="688"/>
                    <a:pt x="4870" y="18"/>
                    <a:pt x="4402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Overview</a:t>
            </a:r>
            <a:endParaRPr/>
          </a:p>
        </p:txBody>
      </p:sp>
      <p:sp>
        <p:nvSpPr>
          <p:cNvPr id="570" name="Google Shape;570;p30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Training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Evaluation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/>
              <a:t>Inference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Different types of learning: vary the usage of labeled / unlabeled data for training</a:t>
            </a:r>
            <a:endParaRPr/>
          </a:p>
        </p:txBody>
      </p:sp>
      <p:pic>
        <p:nvPicPr>
          <p:cNvPr id="571" name="Google Shape;5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950" y="3043750"/>
            <a:ext cx="3021650" cy="19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Applied to Protein Structure Determination</a:t>
            </a:r>
            <a:endParaRPr/>
          </a:p>
        </p:txBody>
      </p:sp>
      <p:sp>
        <p:nvSpPr>
          <p:cNvPr id="577" name="Google Shape;577;p31"/>
          <p:cNvSpPr txBox="1"/>
          <p:nvPr>
            <p:ph idx="1" type="body"/>
          </p:nvPr>
        </p:nvSpPr>
        <p:spPr>
          <a:xfrm>
            <a:off x="908575" y="1119350"/>
            <a:ext cx="7316400" cy="29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Type of AI/ML System for predicting protein tertiary structures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Workflow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Sequence Input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Alignment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Neural Network Predictions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Refinement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Primarily Advantage - speed, compared to experimental determination methods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AlphaFold Algorithm</a:t>
            </a:r>
            <a:endParaRPr/>
          </a:p>
        </p:txBody>
      </p:sp>
      <p:sp>
        <p:nvSpPr>
          <p:cNvPr id="583" name="Google Shape;583;p32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https://www.youtube.com/watch?v=3gSy_yN9YBo</a:t>
            </a:r>
            <a:r>
              <a:rPr lang="en"/>
              <a:t> - 12:00 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https://www.youtube.com/watch?v=7q8Uw3rmXyE</a:t>
            </a:r>
            <a:r>
              <a:rPr lang="en"/>
              <a:t> - 5::00 min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&amp; Limitations</a:t>
            </a:r>
            <a:endParaRPr/>
          </a:p>
        </p:txBody>
      </p:sp>
      <p:sp>
        <p:nvSpPr>
          <p:cNvPr id="589" name="Google Shape;589;p33"/>
          <p:cNvSpPr txBox="1"/>
          <p:nvPr>
            <p:ph idx="1" type="body"/>
          </p:nvPr>
        </p:nvSpPr>
        <p:spPr>
          <a:xfrm>
            <a:off x="908575" y="1182625"/>
            <a:ext cx="7316400" cy="28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75"/>
              <a:t>Achievements</a:t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Research everywhere heavily use AlphaFold to quickly determine protein structure</a:t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Efficient as an algorithm for also solving previously unknown protein folds</a:t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We have a comprehensive database of protein structures created by AlphaFold that people can use to validate their protein reconstructions</a:t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75"/>
              <a:t>Limitations:</a:t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Affected by point mutations</a:t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Lower confidence with proteins that do not have similar known structures</a:t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Not designed to capture dynamic movement, but can get different conformations</a:t>
            </a:r>
            <a:endParaRPr sz="1475"/>
          </a:p>
          <a:p>
            <a:pPr indent="-3222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5"/>
              <a:buChar char="●"/>
            </a:pPr>
            <a:r>
              <a:rPr lang="en" sz="1475"/>
              <a:t>Validating novel models created by AlphaFold</a:t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7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 txBox="1"/>
          <p:nvPr>
            <p:ph type="title"/>
          </p:nvPr>
        </p:nvSpPr>
        <p:spPr>
          <a:xfrm>
            <a:off x="6799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Labs at UCSD</a:t>
            </a:r>
            <a:endParaRPr/>
          </a:p>
        </p:txBody>
      </p:sp>
      <p:sp>
        <p:nvSpPr>
          <p:cNvPr id="595" name="Google Shape;595;p34"/>
          <p:cNvSpPr txBox="1"/>
          <p:nvPr>
            <p:ph idx="1" type="body"/>
          </p:nvPr>
        </p:nvSpPr>
        <p:spPr>
          <a:xfrm>
            <a:off x="745125" y="960350"/>
            <a:ext cx="4003200" cy="14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Herzik Lab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4"/>
              </a:rPr>
              <a:t>Villa Lab</a:t>
            </a:r>
            <a:endParaRPr/>
          </a:p>
        </p:txBody>
      </p:sp>
      <p:pic>
        <p:nvPicPr>
          <p:cNvPr id="596" name="Google Shape;59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3500" y="279075"/>
            <a:ext cx="3127374" cy="21794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7" name="Google Shape;597;p34"/>
          <p:cNvPicPr preferRelativeResize="0"/>
          <p:nvPr/>
        </p:nvPicPr>
        <p:blipFill rotWithShape="1">
          <a:blip r:embed="rId6">
            <a:alphaModFix/>
          </a:blip>
          <a:srcRect b="0" l="2661" r="1936" t="0"/>
          <a:stretch/>
        </p:blipFill>
        <p:spPr>
          <a:xfrm>
            <a:off x="413100" y="2707175"/>
            <a:ext cx="8317775" cy="1552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8" name="Google Shape;598;p34"/>
          <p:cNvPicPr preferRelativeResize="0"/>
          <p:nvPr/>
        </p:nvPicPr>
        <p:blipFill rotWithShape="1">
          <a:blip r:embed="rId7">
            <a:alphaModFix/>
          </a:blip>
          <a:srcRect b="6864" l="42993" r="5824" t="0"/>
          <a:stretch/>
        </p:blipFill>
        <p:spPr>
          <a:xfrm>
            <a:off x="3073900" y="279075"/>
            <a:ext cx="2238579" cy="2179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