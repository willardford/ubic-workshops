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Lor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Lora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ora-bold.fntdata"/><Relationship Id="rId6" Type="http://schemas.openxmlformats.org/officeDocument/2006/relationships/slide" Target="slides/slide2.xml"/><Relationship Id="rId18" Type="http://schemas.openxmlformats.org/officeDocument/2006/relationships/font" Target="fonts/Lor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_dIb6WLY6zI?si=kjOghyZBxfvTcgJ1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79a82cdb8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79a82cdb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394f3faa7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394f3fa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Hodgkin’s and Huxley’s goal was to build a model that explains how action potentials are created and propagated.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Met with challenges: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Had to decipher roles of Na+ and K+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Had to understand how 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membrane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conductance changes with changes in time or voltage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Came up with this approach: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Used voltage clamp techniques to isolate and measure specifical ionic currents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 mathematical models to describe ion channel dynamics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the end, they created a landmark model that explained action potentials using nonlinear differential equations — forming the basis of computational neuroscience!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Goal: Build a quantitative, mechanistic model to explain how action potentials are generated and propagated.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Challenges: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Untangle the roles of Na⁺ and K⁺ in voltage changes.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Understand how membrane conductance changes over time and voltage.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Approach: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 voltage clamp techniques to isolate and measure specific ionic currents.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 mathematical equations to describe ion channel dynamics (before "ion channels" were even visualized).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Outcome: A landmark model that explained action potentials using nonlinear differential equations — forming the basis of computational neuroscience.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58adbba8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558adbba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Capacitor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Cm refers to lipid bilayer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Initially acts like a thin wire, once charge accumulates, begins to act more like an open circuit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Battery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“E” → electrochemical gradients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Power source, drives current across resistors, capacitors, etc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Current Source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Ion pumps / exchangers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Conductances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Gn, Gl → voltage gates &amp; leak ion channels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Reduces current flow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558adbba89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558adbba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5394f3faa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5394f3fa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First, we have the membrane voltage equation, which describes how voltage changes over time due to capacitive and ionic currents. It’s modeled as a circuit, as we just discussed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Ion-specific conductances (I</a:t>
            </a:r>
            <a:r>
              <a:rPr baseline="-25000" lang="en"/>
              <a:t>Na</a:t>
            </a:r>
            <a:r>
              <a:rPr lang="en"/>
              <a:t>, I</a:t>
            </a:r>
            <a:r>
              <a:rPr baseline="-25000" lang="en"/>
              <a:t>K</a:t>
            </a:r>
            <a:r>
              <a:rPr lang="en"/>
              <a:t>, I</a:t>
            </a:r>
            <a:r>
              <a:rPr baseline="-25000" lang="en"/>
              <a:t>L</a:t>
            </a:r>
            <a:r>
              <a:rPr lang="en"/>
              <a:t>) are like variable resistors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Sodium channel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Potassium channel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Leak channel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Modeled each ionic current as a conductance times the voltage difference across the </a:t>
            </a:r>
            <a:r>
              <a:rPr lang="en"/>
              <a:t>membrane</a:t>
            </a:r>
            <a:r>
              <a:rPr lang="en"/>
              <a:t>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But they realized the sodium and potassium </a:t>
            </a:r>
            <a:r>
              <a:rPr b="1" lang="en">
                <a:solidFill>
                  <a:schemeClr val="dk1"/>
                </a:solidFill>
              </a:rPr>
              <a:t>conductances</a:t>
            </a:r>
            <a:r>
              <a:rPr lang="en">
                <a:solidFill>
                  <a:schemeClr val="dk1"/>
                </a:solidFill>
              </a:rPr>
              <a:t> (g</a:t>
            </a:r>
            <a:r>
              <a:rPr baseline="-25000" lang="en">
                <a:solidFill>
                  <a:schemeClr val="dk1"/>
                </a:solidFill>
              </a:rPr>
              <a:t>Na</a:t>
            </a:r>
            <a:r>
              <a:rPr lang="en">
                <a:solidFill>
                  <a:schemeClr val="dk1"/>
                </a:solidFill>
              </a:rPr>
              <a:t> and g</a:t>
            </a:r>
            <a:r>
              <a:rPr baseline="-25000" lang="en">
                <a:solidFill>
                  <a:schemeClr val="dk1"/>
                </a:solidFill>
              </a:rPr>
              <a:t>K</a:t>
            </a:r>
            <a:r>
              <a:rPr lang="en">
                <a:solidFill>
                  <a:schemeClr val="dk1"/>
                </a:solidFill>
              </a:rPr>
              <a:t>) weren’t constants — they </a:t>
            </a:r>
            <a:r>
              <a:rPr b="1" lang="en">
                <a:solidFill>
                  <a:schemeClr val="dk1"/>
                </a:solidFill>
              </a:rPr>
              <a:t>varied with voltage and time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trike="sngStrike">
                <a:solidFill>
                  <a:schemeClr val="dk1"/>
                </a:solidFill>
              </a:rPr>
              <a:t>To model each ionic current, they found Na⁺ conductance depends on 3 "activation gates" (m) and 1 "inactivation gate" (h), while K⁺ conductance depends on 4 activation gates (n).</a:t>
            </a:r>
            <a:endParaRPr strike="sngStrike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trike="sngStrike"/>
              <a:t>To capture this, they introduced empirical gating variables: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m: Na⁺ activation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h: Na⁺ inactivation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n: K⁺ activation</a:t>
            </a:r>
            <a:endParaRPr strike="sngStrike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trike="sngStrike"/>
              <a:t>Found this: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g</a:t>
            </a:r>
            <a:r>
              <a:rPr baseline="-25000" lang="en" strike="sngStrike"/>
              <a:t>Na</a:t>
            </a:r>
            <a:r>
              <a:rPr lang="en" strike="sngStrike"/>
              <a:t> = g</a:t>
            </a:r>
            <a:r>
              <a:rPr baseline="-25000" lang="en" strike="sngStrike"/>
              <a:t>Na,max</a:t>
            </a:r>
            <a:r>
              <a:rPr lang="en" strike="sngStrike"/>
              <a:t> · m³ · h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g</a:t>
            </a:r>
            <a:r>
              <a:rPr baseline="-25000" lang="en" strike="sngStrike"/>
              <a:t>K</a:t>
            </a:r>
            <a:r>
              <a:rPr lang="en" strike="sngStrike"/>
              <a:t> = g</a:t>
            </a:r>
            <a:r>
              <a:rPr baseline="-25000" lang="en" strike="sngStrike"/>
              <a:t>K,max</a:t>
            </a:r>
            <a:r>
              <a:rPr lang="en" strike="sngStrike"/>
              <a:t> · n⁴</a:t>
            </a:r>
            <a:endParaRPr strike="sngStrike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the end, three differential equations form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α</a:t>
            </a:r>
            <a:r>
              <a:rPr baseline="-25000" lang="en"/>
              <a:t>n</a:t>
            </a:r>
            <a:r>
              <a:rPr lang="en"/>
              <a:t>(V) and β</a:t>
            </a:r>
            <a:r>
              <a:rPr baseline="-25000" lang="en"/>
              <a:t>n</a:t>
            </a:r>
            <a:r>
              <a:rPr lang="en"/>
              <a:t>(V) are voltage-dependent rate functions that were experimentally derived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for membrane voltage, three for the gating variables (m, h, n). The final system could be solved numerically to simulate action potentials.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I</a:t>
            </a:r>
            <a:r>
              <a:rPr baseline="-25000" i="1" lang="en"/>
              <a:t>ext </a:t>
            </a:r>
            <a:r>
              <a:rPr lang="en"/>
              <a:t> combines each current. And then they have the gate </a:t>
            </a:r>
            <a:r>
              <a:rPr lang="en"/>
              <a:t>variable</a:t>
            </a:r>
            <a:r>
              <a:rPr lang="en"/>
              <a:t> equations. And together, they make a set of 4 equations that can be used to simulate of realistic action potentials.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video: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https://youtu.be/_dIb6WLY6zI?si=kjOghyZBxfvTcgJ1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good for slides </a:t>
            </a:r>
            <a:r>
              <a:rPr lang="en"/>
              <a:t>because</a:t>
            </a:r>
            <a:r>
              <a:rPr lang="en"/>
              <a:t> its long and a bit disorganized (sounds like a </a:t>
            </a:r>
            <a:r>
              <a:rPr lang="en"/>
              <a:t>teacher</a:t>
            </a:r>
            <a:r>
              <a:rPr lang="en"/>
              <a:t> and a student teacher) but if someone wants to learn more it’s really interesting. Very mathy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394f3faa7_1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5394f3faa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Membrane voltage equation and ionic currents equations (left)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Gating variable (right)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37963302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53796330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558adbba89_3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558adbba8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5379633023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537963302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379633023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53796330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379633023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53796330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394f3faa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5394f3fa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Alan Hodgkin and Andrew Huxley, 1952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Tried to explain how action potentials propagate in the squid giant axon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Helps control jet propulsion in squid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Game real-time access to how a neuron works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Large diameter extremely helpful—allowed them to insert voltage clamp electrodes inside the lumen of the axon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Already knew: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Neurons transmit electrical signals (unlike 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chemical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), didn’t know how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Resting 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membrane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potential ~ -70 mV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Action potential of brief electrical spikes. Didn’t know how these happened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Researchers hypothesized that ion movement (Na+ and K+ specifically) across membranes played a role in action potentials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Neuron Basics: Scientists knew neurons transmit electrical signals (other than chemical), but the mechanism was unclear.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Resting Potential: It was established that neurons maintain a resting membrane potential (≈ -70 mV).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Action Potentials: These brief electrical spikes could be recorded, but their origin was a mystery.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Ionic Hypothesis: Researchers suspected ion movement (especially Na⁺ and K⁺) across membranes played a role in action potentials.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Giant Squid Axon: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Used due to its large size (~1 mm diameter), ideal for inserting electrodes and performing voltage clamp experiments.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Provided unprecedented access to real-time electrical activity inside a neuron.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379633023_0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37963302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6725" y="3532375"/>
            <a:ext cx="9210650" cy="1302680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-26725" y="3663700"/>
            <a:ext cx="9210650" cy="1529774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14" name="Google Shape;14;p2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" name="Google Shape;17;p2"/>
          <p:cNvGrpSpPr/>
          <p:nvPr/>
        </p:nvGrpSpPr>
        <p:grpSpPr>
          <a:xfrm>
            <a:off x="-42787" y="3605288"/>
            <a:ext cx="9229575" cy="642787"/>
            <a:chOff x="-42837" y="4443488"/>
            <a:chExt cx="9229575" cy="642787"/>
          </a:xfrm>
        </p:grpSpPr>
        <p:sp>
          <p:nvSpPr>
            <p:cNvPr id="18" name="Google Shape;18;p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356000" y="4077875"/>
            <a:ext cx="8658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  <a:defRPr sz="28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0" name="Google Shape;50;p3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" name="Google Shape;51;p3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55" name="Google Shape;55;p3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6" name="Google Shape;56;p3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" name="Google Shape;57;p3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8" name="Google Shape;58;p3"/>
          <p:cNvGrpSpPr/>
          <p:nvPr/>
        </p:nvGrpSpPr>
        <p:grpSpPr>
          <a:xfrm>
            <a:off x="-42837" y="2005088"/>
            <a:ext cx="9229575" cy="642787"/>
            <a:chOff x="-42837" y="4443488"/>
            <a:chExt cx="9229575" cy="642787"/>
          </a:xfrm>
        </p:grpSpPr>
        <p:sp>
          <p:nvSpPr>
            <p:cNvPr id="59" name="Google Shape;59;p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3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>
            <p:ph type="ctrTitle"/>
          </p:nvPr>
        </p:nvSpPr>
        <p:spPr>
          <a:xfrm>
            <a:off x="2309350" y="3031150"/>
            <a:ext cx="52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ora"/>
              <a:buNone/>
              <a:defRPr sz="36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" name="Google Shape;89;p3"/>
          <p:cNvSpPr txBox="1"/>
          <p:nvPr>
            <p:ph idx="1" type="subTitle"/>
          </p:nvPr>
        </p:nvSpPr>
        <p:spPr>
          <a:xfrm>
            <a:off x="2309441" y="4059250"/>
            <a:ext cx="52146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ora"/>
              <a:buNone/>
              <a:defRPr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1">
  <p:cSld name="TITLE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92" name="Google Shape;92;p4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93" name="Google Shape;93;p4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97" name="Google Shape;97;p4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8" name="Google Shape;98;p4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9" name="Google Shape;99;p4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00" name="Google Shape;100;p4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01" name="Google Shape;101;p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1536550" y="906725"/>
            <a:ext cx="60840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1536538" y="1789175"/>
            <a:ext cx="6084000" cy="2766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1 1">
  <p:cSld name="TITLE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39" name="Google Shape;139;p5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0" name="Google Shape;140;p5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1" name="Google Shape;141;p5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42" name="Google Shape;142;p5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43" name="Google Shape;143;p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5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 txBox="1"/>
          <p:nvPr>
            <p:ph type="title"/>
          </p:nvPr>
        </p:nvSpPr>
        <p:spPr>
          <a:xfrm>
            <a:off x="1536538" y="484300"/>
            <a:ext cx="60840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1324213" y="1391600"/>
            <a:ext cx="3043200" cy="3463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4" name="Google Shape;174;p5"/>
          <p:cNvSpPr txBox="1"/>
          <p:nvPr>
            <p:ph idx="2" type="body"/>
          </p:nvPr>
        </p:nvSpPr>
        <p:spPr>
          <a:xfrm>
            <a:off x="4789663" y="1391600"/>
            <a:ext cx="3043200" cy="3463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8" name="Google Shape;178;p6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79" name="Google Shape;179;p6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80" name="Google Shape;180;p6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6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84" name="Google Shape;184;p6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6" name="Google Shape;186;p6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7" name="Google Shape;187;p6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188" name="Google Shape;188;p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19" name="Google Shape;219;p7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7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225" name="Google Shape;225;p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51" name="Google Shape;251;p7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2" name="Google Shape;252;p7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3" name="Google Shape;253;p7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54" name="Google Shape;254;p7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9" name="Google Shape;259;p7"/>
          <p:cNvSpPr txBox="1"/>
          <p:nvPr>
            <p:ph idx="1" type="subTitle"/>
          </p:nvPr>
        </p:nvSpPr>
        <p:spPr>
          <a:xfrm>
            <a:off x="2838925" y="632708"/>
            <a:ext cx="3456600" cy="2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60" name="Google Shape;260;p7"/>
          <p:cNvSpPr txBox="1"/>
          <p:nvPr>
            <p:ph idx="2" type="body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63" name="Google Shape;263;p8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64" name="Google Shape;264;p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68" name="Google Shape;268;p8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9" name="Google Shape;269;p8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0" name="Google Shape;270;p8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71" name="Google Shape;271;p8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272" name="Google Shape;272;p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03" name="Google Shape;303;p9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04" name="Google Shape;304;p9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418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9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08" name="Google Shape;308;p9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9" name="Google Shape;309;p9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0" name="Google Shape;310;p9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11" name="Google Shape;311;p9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312" name="Google Shape;312;p9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9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graph 2">
  <p:cSld name="BLANK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43" name="Google Shape;343;p10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44" name="Google Shape;344;p10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" name="Google Shape;347;p10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48" name="Google Shape;348;p10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9" name="Google Shape;349;p10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50" name="Google Shape;350;p10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51" name="Google Shape;351;p10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52" name="Google Shape;352;p10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 txBox="1"/>
          <p:nvPr>
            <p:ph idx="1" type="subTitle"/>
          </p:nvPr>
        </p:nvSpPr>
        <p:spPr>
          <a:xfrm>
            <a:off x="2298300" y="652513"/>
            <a:ext cx="4547100" cy="5952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418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graph 1">
  <p:cSld name="BLANK_2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84" name="Google Shape;384;p11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85" name="Google Shape;385;p11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1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89" name="Google Shape;389;p11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0" name="Google Shape;390;p11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1" name="Google Shape;391;p11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92" name="Google Shape;392;p11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93" name="Google Shape;393;p11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11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 txBox="1"/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575" y="927550"/>
            <a:ext cx="73164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  <a:defRPr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www.frontiersin.org/journals/computational-neuroscience/articles/10.3389/fncom.2021.800875/ful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hyperlink" Target="https://pmc.ncbi.nlm.nih.gov/articles/PMC3424716/pdf/tjp0590-2571.pdf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"/>
          <p:cNvSpPr txBox="1"/>
          <p:nvPr>
            <p:ph type="ctrTitle"/>
          </p:nvPr>
        </p:nvSpPr>
        <p:spPr>
          <a:xfrm>
            <a:off x="1686275" y="3031150"/>
            <a:ext cx="6869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Neurobiology</a:t>
            </a:r>
            <a:endParaRPr/>
          </a:p>
        </p:txBody>
      </p:sp>
      <p:sp>
        <p:nvSpPr>
          <p:cNvPr id="429" name="Google Shape;429;p13"/>
          <p:cNvSpPr txBox="1"/>
          <p:nvPr>
            <p:ph idx="1" type="subTitle"/>
          </p:nvPr>
        </p:nvSpPr>
        <p:spPr>
          <a:xfrm>
            <a:off x="3236816" y="4085025"/>
            <a:ext cx="5214600" cy="4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Workshop</a:t>
            </a:r>
            <a:endParaRPr/>
          </a:p>
        </p:txBody>
      </p:sp>
      <p:pic>
        <p:nvPicPr>
          <p:cNvPr id="430" name="Google Shape;4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250" y="100875"/>
            <a:ext cx="2115625" cy="4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Hodgkin and Huxley aimed to decipher how the </a:t>
            </a:r>
            <a:r>
              <a:rPr lang="en"/>
              <a:t>membrane conductance changes with time and voltage</a:t>
            </a:r>
            <a:endParaRPr/>
          </a:p>
        </p:txBody>
      </p:sp>
      <p:pic>
        <p:nvPicPr>
          <p:cNvPr id="436" name="Google Shape;4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450" y="930238"/>
            <a:ext cx="4435100" cy="32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Components - Physics Perspective</a:t>
            </a:r>
            <a:endParaRPr/>
          </a:p>
        </p:txBody>
      </p:sp>
      <p:pic>
        <p:nvPicPr>
          <p:cNvPr id="442" name="Google Shape;4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450" y="1115950"/>
            <a:ext cx="4109100" cy="291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our Circuit Model</a:t>
            </a:r>
            <a:endParaRPr/>
          </a:p>
        </p:txBody>
      </p:sp>
      <p:sp>
        <p:nvSpPr>
          <p:cNvPr id="448" name="Google Shape;448;p16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/>
              <a:t>Application of Ohm’s Law, V = IR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/>
              <a:t>Relating Capacitance and current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/>
              <a:t>Analyzing total current flow</a:t>
            </a:r>
            <a:endParaRPr/>
          </a:p>
        </p:txBody>
      </p:sp>
      <p:pic>
        <p:nvPicPr>
          <p:cNvPr id="449" name="Google Shape;4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525" y="1119350"/>
            <a:ext cx="2503450" cy="70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5550" y="1826600"/>
            <a:ext cx="1826025" cy="80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25" y="2865750"/>
            <a:ext cx="6879949" cy="6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they derive the network?</a:t>
            </a:r>
            <a:endParaRPr/>
          </a:p>
        </p:txBody>
      </p:sp>
      <p:sp>
        <p:nvSpPr>
          <p:cNvPr id="457" name="Google Shape;457;p17"/>
          <p:cNvSpPr txBox="1"/>
          <p:nvPr>
            <p:ph idx="1" type="body"/>
          </p:nvPr>
        </p:nvSpPr>
        <p:spPr>
          <a:xfrm>
            <a:off x="1633263" y="1571400"/>
            <a:ext cx="2804100" cy="21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membrane current: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current: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gate variable:</a:t>
            </a:r>
            <a:endParaRPr/>
          </a:p>
        </p:txBody>
      </p:sp>
      <p:pic>
        <p:nvPicPr>
          <p:cNvPr id="458" name="Google Shape;4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938" y="1375500"/>
            <a:ext cx="33337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8113" y="2222575"/>
            <a:ext cx="22669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0938" y="2801750"/>
            <a:ext cx="31623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718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33475"/>
            <a:ext cx="344805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3000" y="147638"/>
            <a:ext cx="36957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9725" y="1266375"/>
            <a:ext cx="4424025" cy="19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Spike Shapes</a:t>
            </a:r>
            <a:endParaRPr/>
          </a:p>
        </p:txBody>
      </p:sp>
      <p:pic>
        <p:nvPicPr>
          <p:cNvPr id="474" name="Google Shape;4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206" y="0"/>
            <a:ext cx="6283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0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Spike Shapes</a:t>
            </a:r>
            <a:endParaRPr/>
          </a:p>
        </p:txBody>
      </p:sp>
      <p:pic>
        <p:nvPicPr>
          <p:cNvPr id="486" name="Google Shape;4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0925"/>
            <a:ext cx="8839201" cy="3321659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1"/>
          <p:cNvSpPr txBox="1"/>
          <p:nvPr/>
        </p:nvSpPr>
        <p:spPr>
          <a:xfrm>
            <a:off x="2560350" y="4142325"/>
            <a:ext cx="633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hlink"/>
                </a:solidFill>
                <a:hlinkClick r:id="rId4"/>
              </a:rPr>
              <a:t>https://www.frontiersin.org/journals/computational-neuroscience/articles/10.3389/fncom.2021.800875/full</a:t>
            </a:r>
            <a:r>
              <a:rPr b="1" lang="en" sz="900">
                <a:solidFill>
                  <a:schemeClr val="dk1"/>
                </a:solidFill>
              </a:rPr>
              <a:t> </a:t>
            </a:r>
            <a:endParaRPr sz="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Spike Shapes</a:t>
            </a:r>
            <a:endParaRPr/>
          </a:p>
        </p:txBody>
      </p:sp>
      <p:pic>
        <p:nvPicPr>
          <p:cNvPr id="493" name="Google Shape;4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525" y="952350"/>
            <a:ext cx="7010502" cy="396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Nobel Prize Winner</a:t>
            </a:r>
            <a:endParaRPr/>
          </a:p>
        </p:txBody>
      </p:sp>
      <p:sp>
        <p:nvSpPr>
          <p:cNvPr id="499" name="Google Shape;499;p23"/>
          <p:cNvSpPr txBox="1"/>
          <p:nvPr/>
        </p:nvSpPr>
        <p:spPr>
          <a:xfrm>
            <a:off x="393650" y="1167950"/>
            <a:ext cx="37185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500" name="Google Shape;5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150" y="796175"/>
            <a:ext cx="3302651" cy="17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3"/>
          <p:cNvSpPr txBox="1"/>
          <p:nvPr/>
        </p:nvSpPr>
        <p:spPr>
          <a:xfrm>
            <a:off x="4982575" y="4749750"/>
            <a:ext cx="381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https://pmc.ncbi.nlm.nih.gov/articles/PMC3424716/pdf/tjp0590-2571.pdf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700"/>
          </a:p>
        </p:txBody>
      </p:sp>
      <p:pic>
        <p:nvPicPr>
          <p:cNvPr id="502" name="Google Shape;50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1200" y="2544625"/>
            <a:ext cx="2017200" cy="21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8411" y="2751507"/>
            <a:ext cx="2017200" cy="131910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3"/>
          <p:cNvSpPr txBox="1"/>
          <p:nvPr/>
        </p:nvSpPr>
        <p:spPr>
          <a:xfrm>
            <a:off x="452200" y="1119150"/>
            <a:ext cx="41481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Alan Lloyd Hodgkin and Andrew Fielding Huxley awarded 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Nobel Prize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in 1963 for explaining how action potentials are initiated and propagated in neurons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Used voltage clamp technique on the squid giant axon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Gave equations modeling ionic conductances across the neuronal membrane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squid giant axon helps lead to great discoveries in action potentials of a membrane</a:t>
            </a:r>
            <a:endParaRPr/>
          </a:p>
        </p:txBody>
      </p:sp>
      <p:pic>
        <p:nvPicPr>
          <p:cNvPr id="510" name="Google Shape;5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75" y="1106750"/>
            <a:ext cx="2730075" cy="275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0000" y="1707887"/>
            <a:ext cx="5538074" cy="17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can learn from network</a:t>
            </a:r>
            <a:endParaRPr/>
          </a:p>
        </p:txBody>
      </p:sp>
      <p:sp>
        <p:nvSpPr>
          <p:cNvPr id="517" name="Google Shape;517;p25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Represent neurons as electrical circuits (ion channels resistors, membrane capacitor, driving forces as batteries)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Translating differential equations shows how Na⁺ and K⁺ conductances shape the action potential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Shape, duration, and frequency of spikes depend on voltage gated channel kinetics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M</a:t>
            </a:r>
            <a:r>
              <a:rPr lang="en"/>
              <a:t>odel transitions between resting state, threshold, and firing behavior as observed in biological neurons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