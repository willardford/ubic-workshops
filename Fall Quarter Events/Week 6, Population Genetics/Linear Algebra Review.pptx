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5"/>
    <p:sldMasterId id="214748367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embeddedFontLst>
    <p:embeddedFont>
      <p:font typeface="Lora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EB5CF0-282E-46BA-9E52-4FD794C5062D}">
  <a:tblStyle styleId="{12EB5CF0-282E-46BA-9E52-4FD794C506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ra-italic.fntdata"/><Relationship Id="rId20" Type="http://schemas.openxmlformats.org/officeDocument/2006/relationships/slide" Target="slides/slide13.xml"/><Relationship Id="rId41" Type="http://schemas.openxmlformats.org/officeDocument/2006/relationships/font" Target="fonts/Lora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Lora-bold.fntdata"/><Relationship Id="rId16" Type="http://schemas.openxmlformats.org/officeDocument/2006/relationships/slide" Target="slides/slide9.xml"/><Relationship Id="rId38" Type="http://schemas.openxmlformats.org/officeDocument/2006/relationships/font" Target="fonts/Lora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15579d6ce3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15579d6ce3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15579d6ce3_0_2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15579d6ce3_0_2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15579d6ce3_0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15579d6ce3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15579d6ce3_0_2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15579d6ce3_0_2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15579d6ce3_0_2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15579d6ce3_0_2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15579d6ce3_0_2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15579d6ce3_0_2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15579d6ce3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15579d6ce3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15579d6ce3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15579d6ce3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15579d6ce3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15579d6ce3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15579d6ce3_0_1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15579d6ce3_0_1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15579d6ce3_0_1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15579d6ce3_0_1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15579d6ce3_0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15579d6ce3_0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15579d6ce3_0_1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15579d6ce3_0_1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15579d6ce3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15579d6ce3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15579d6ce3_0_1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15579d6ce3_0_1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15579d6ce3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15579d6ce3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15579d6ce3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15579d6ce3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15579d6ce3_0_1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15579d6ce3_0_1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15579d6ce3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15579d6ce3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15579d6ce3_0_2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15579d6ce3_0_2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15579d6ce3_0_2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15579d6ce3_0_2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15579d6ce3_0_2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15579d6ce3_0_2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15579d6ce3_0_2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15579d6ce3_0_2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15579d6ce3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15579d6ce3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15579d6ce3_0_2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15579d6ce3_0_2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15579d6ce3_0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15579d6ce3_0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15579d6ce3_0_2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15579d6ce3_0_2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15579d6ce3_0_2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15579d6ce3_0_2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15579d6ce3_0_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15579d6ce3_0_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15579d6ce3_0_2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15579d6ce3_0_2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6725" y="3532375"/>
            <a:ext cx="9210650" cy="1302680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5" name="Google Shape;55;p14"/>
          <p:cNvSpPr/>
          <p:nvPr/>
        </p:nvSpPr>
        <p:spPr>
          <a:xfrm>
            <a:off x="-26725" y="3663700"/>
            <a:ext cx="9210650" cy="1529774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6" name="Google Shape;56;p14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14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59" name="Google Shape;59;p14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0" name="Google Shape;60;p14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62" name="Google Shape;62;p14"/>
          <p:cNvGrpSpPr/>
          <p:nvPr/>
        </p:nvGrpSpPr>
        <p:grpSpPr>
          <a:xfrm>
            <a:off x="-42787" y="3605288"/>
            <a:ext cx="9229575" cy="642788"/>
            <a:chOff x="-42837" y="4443488"/>
            <a:chExt cx="9229575" cy="642788"/>
          </a:xfrm>
        </p:grpSpPr>
        <p:sp>
          <p:nvSpPr>
            <p:cNvPr id="63" name="Google Shape;63;p1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4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type="ctrTitle"/>
          </p:nvPr>
        </p:nvSpPr>
        <p:spPr>
          <a:xfrm>
            <a:off x="356000" y="4077875"/>
            <a:ext cx="86586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  <a:defRPr sz="28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95" name="Google Shape;95;p15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96" name="Google Shape;96;p15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5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00" name="Google Shape;100;p15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1" name="Google Shape;101;p15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2" name="Google Shape;102;p15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03" name="Google Shape;103;p15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04" name="Google Shape;104;p1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5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 txBox="1"/>
          <p:nvPr>
            <p:ph type="ctrTitle"/>
          </p:nvPr>
        </p:nvSpPr>
        <p:spPr>
          <a:xfrm>
            <a:off x="2309350" y="3031150"/>
            <a:ext cx="5214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ora"/>
              <a:buNone/>
              <a:defRPr sz="36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2309441" y="4059250"/>
            <a:ext cx="52146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ora"/>
              <a:buNone/>
              <a:defRPr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1">
  <p:cSld name="TITLE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37" name="Google Shape;137;p16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38" name="Google Shape;138;p16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16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42" name="Google Shape;142;p16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3" name="Google Shape;143;p16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4" name="Google Shape;144;p16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45" name="Google Shape;145;p16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46" name="Google Shape;146;p1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6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 txBox="1"/>
          <p:nvPr>
            <p:ph type="title"/>
          </p:nvPr>
        </p:nvSpPr>
        <p:spPr>
          <a:xfrm>
            <a:off x="1536550" y="906725"/>
            <a:ext cx="60840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1536538" y="1789175"/>
            <a:ext cx="6084000" cy="2766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 1 1">
  <p:cSld name="TITLE_1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-26775" y="2008375"/>
            <a:ext cx="9210650" cy="3172625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79" name="Google Shape;179;p17"/>
          <p:cNvSpPr/>
          <p:nvPr/>
        </p:nvSpPr>
        <p:spPr>
          <a:xfrm>
            <a:off x="-26775" y="2139700"/>
            <a:ext cx="9210650" cy="3041300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80" name="Google Shape;180;p17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AFF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00C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7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84" name="Google Shape;184;p17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" name="Google Shape;185;p17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6" name="Google Shape;186;p17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87" name="Google Shape;187;p17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88" name="Google Shape;188;p1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7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"/>
          <p:cNvSpPr txBox="1"/>
          <p:nvPr>
            <p:ph type="title"/>
          </p:nvPr>
        </p:nvSpPr>
        <p:spPr>
          <a:xfrm>
            <a:off x="1536538" y="484300"/>
            <a:ext cx="6084000" cy="6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1324213" y="1391600"/>
            <a:ext cx="3043200" cy="3463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19" name="Google Shape;219;p17"/>
          <p:cNvSpPr txBox="1"/>
          <p:nvPr>
            <p:ph idx="2" type="body"/>
          </p:nvPr>
        </p:nvSpPr>
        <p:spPr>
          <a:xfrm>
            <a:off x="4789663" y="1391600"/>
            <a:ext cx="3043200" cy="3463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23" name="Google Shape;223;p18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24" name="Google Shape;224;p18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25" name="Google Shape;225;p1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1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29" name="Google Shape;229;p18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0" name="Google Shape;230;p18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1" name="Google Shape;231;p18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32" name="Google Shape;232;p18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233" name="Google Shape;233;p1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1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/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264" name="Google Shape;264;p19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65" name="Google Shape;265;p19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66" name="Google Shape;266;p19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19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270" name="Google Shape;270;p19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9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5" name="Google Shape;295;p19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96" name="Google Shape;296;p19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7" name="Google Shape;297;p19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8" name="Google Shape;298;p19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99" name="Google Shape;299;p19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4" name="Google Shape;304;p19"/>
          <p:cNvSpPr txBox="1"/>
          <p:nvPr>
            <p:ph idx="1" type="subTitle"/>
          </p:nvPr>
        </p:nvSpPr>
        <p:spPr>
          <a:xfrm>
            <a:off x="2838925" y="632708"/>
            <a:ext cx="3456600" cy="2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305" name="Google Shape;305;p19"/>
          <p:cNvSpPr txBox="1"/>
          <p:nvPr>
            <p:ph idx="2" type="body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08" name="Google Shape;308;p20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09" name="Google Shape;309;p20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20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13" name="Google Shape;313;p20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4" name="Google Shape;314;p20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5" name="Google Shape;315;p20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16" name="Google Shape;316;p20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317" name="Google Shape;317;p20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20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48" name="Google Shape;348;p21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49" name="Google Shape;349;p21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418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2" name="Google Shape;352;p21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53" name="Google Shape;353;p21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54" name="Google Shape;354;p21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55" name="Google Shape;355;p21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56" name="Google Shape;356;p21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357" name="Google Shape;357;p21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1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2" name="Google Shape;382;p21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AFF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graph 2">
  <p:cSld name="BLANK_2_2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88" name="Google Shape;388;p22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89" name="Google Shape;389;p22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" name="Google Shape;392;p22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93" name="Google Shape;393;p22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4" name="Google Shape;394;p22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5" name="Google Shape;395;p22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96" name="Google Shape;396;p22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97" name="Google Shape;397;p2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2" name="Google Shape;422;p22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2"/>
          <p:cNvSpPr txBox="1"/>
          <p:nvPr>
            <p:ph idx="1" type="subTitle"/>
          </p:nvPr>
        </p:nvSpPr>
        <p:spPr>
          <a:xfrm>
            <a:off x="2298300" y="652513"/>
            <a:ext cx="4547100" cy="5952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418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 graph 1">
  <p:cSld name="BLANK_2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"/>
          <p:cNvSpPr/>
          <p:nvPr/>
        </p:nvSpPr>
        <p:spPr>
          <a:xfrm>
            <a:off x="-20075" y="636775"/>
            <a:ext cx="9203950" cy="4550900"/>
          </a:xfrm>
          <a:custGeom>
            <a:rect b="b" l="l" r="r" t="t"/>
            <a:pathLst>
              <a:path extrusionOk="0" h="182036" w="368158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429" name="Google Shape;429;p23"/>
          <p:cNvSpPr/>
          <p:nvPr/>
        </p:nvSpPr>
        <p:spPr>
          <a:xfrm>
            <a:off x="-33475" y="768100"/>
            <a:ext cx="9210650" cy="4406200"/>
          </a:xfrm>
          <a:custGeom>
            <a:rect b="b" l="l" r="r" t="t"/>
            <a:pathLst>
              <a:path extrusionOk="0" h="176248" w="368426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430" name="Google Shape;430;p23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23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434" name="Google Shape;434;p23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35" name="Google Shape;435;p23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36" name="Google Shape;436;p23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437" name="Google Shape;437;p23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438" name="Google Shape;438;p2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23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3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"/>
          <p:cNvSpPr txBox="1"/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 1">
  <p:cSld name="TITLE_AND_TWO_COLUMNS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"/>
          <p:cNvSpPr txBox="1"/>
          <p:nvPr>
            <p:ph type="title"/>
          </p:nvPr>
        </p:nvSpPr>
        <p:spPr>
          <a:xfrm>
            <a:off x="1144750" y="4332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None/>
              <a:defRPr>
                <a:solidFill>
                  <a:srgbClr val="418B9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71" name="Google Shape;471;p25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472" name="Google Shape;472;p25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473" name="Google Shape;473;p25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418B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25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477" name="Google Shape;477;p2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2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503" name="Google Shape;503;p25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04" name="Google Shape;504;p25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05" name="Google Shape;505;p25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06" name="Google Shape;506;p25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5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11" name="Google Shape;511;p25"/>
          <p:cNvSpPr txBox="1"/>
          <p:nvPr>
            <p:ph idx="1" type="subTitle"/>
          </p:nvPr>
        </p:nvSpPr>
        <p:spPr>
          <a:xfrm>
            <a:off x="2914750" y="846600"/>
            <a:ext cx="3456600" cy="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1_2">
    <p:bg>
      <p:bgPr>
        <a:solidFill>
          <a:schemeClr val="l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6"/>
          <p:cNvSpPr/>
          <p:nvPr/>
        </p:nvSpPr>
        <p:spPr>
          <a:xfrm>
            <a:off x="-26725" y="3532375"/>
            <a:ext cx="9210650" cy="1302680"/>
          </a:xfrm>
          <a:custGeom>
            <a:rect b="b" l="l" r="r" t="t"/>
            <a:pathLst>
              <a:path extrusionOk="0" h="126905" w="368426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14" name="Google Shape;514;p26"/>
          <p:cNvSpPr/>
          <p:nvPr/>
        </p:nvSpPr>
        <p:spPr>
          <a:xfrm>
            <a:off x="-26725" y="3663700"/>
            <a:ext cx="9210650" cy="1529774"/>
          </a:xfrm>
          <a:custGeom>
            <a:rect b="b" l="l" r="r" t="t"/>
            <a:pathLst>
              <a:path extrusionOk="0" h="121652" w="368426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5" name="Google Shape;515;p26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6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26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518" name="Google Shape;518;p26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9" name="Google Shape;519;p26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0" name="Google Shape;520;p26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21" name="Google Shape;521;p26"/>
          <p:cNvGrpSpPr/>
          <p:nvPr/>
        </p:nvGrpSpPr>
        <p:grpSpPr>
          <a:xfrm>
            <a:off x="-42787" y="3605288"/>
            <a:ext cx="9229575" cy="642788"/>
            <a:chOff x="-42837" y="4443488"/>
            <a:chExt cx="9229575" cy="642788"/>
          </a:xfrm>
        </p:grpSpPr>
        <p:sp>
          <p:nvSpPr>
            <p:cNvPr id="522" name="Google Shape;522;p2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7" name="Google Shape;547;p26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6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6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6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6"/>
          <p:cNvSpPr txBox="1"/>
          <p:nvPr>
            <p:ph type="ctrTitle"/>
          </p:nvPr>
        </p:nvSpPr>
        <p:spPr>
          <a:xfrm>
            <a:off x="1850450" y="4033750"/>
            <a:ext cx="56103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_1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7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None/>
              <a:defRPr>
                <a:solidFill>
                  <a:srgbClr val="418B9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4" name="Google Shape;554;p27"/>
          <p:cNvSpPr txBox="1"/>
          <p:nvPr>
            <p:ph idx="1" type="body"/>
          </p:nvPr>
        </p:nvSpPr>
        <p:spPr>
          <a:xfrm>
            <a:off x="705900" y="1626600"/>
            <a:ext cx="2471700" cy="32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55" name="Google Shape;555;p27"/>
          <p:cNvSpPr txBox="1"/>
          <p:nvPr>
            <p:ph idx="2" type="body"/>
          </p:nvPr>
        </p:nvSpPr>
        <p:spPr>
          <a:xfrm>
            <a:off x="3304125" y="1626600"/>
            <a:ext cx="2471700" cy="32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56" name="Google Shape;556;p27"/>
          <p:cNvSpPr txBox="1"/>
          <p:nvPr>
            <p:ph idx="3" type="body"/>
          </p:nvPr>
        </p:nvSpPr>
        <p:spPr>
          <a:xfrm>
            <a:off x="5902350" y="1626600"/>
            <a:ext cx="2471700" cy="32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57" name="Google Shape;557;p27"/>
          <p:cNvSpPr/>
          <p:nvPr/>
        </p:nvSpPr>
        <p:spPr>
          <a:xfrm>
            <a:off x="-28575" y="4446775"/>
            <a:ext cx="9191625" cy="712478"/>
          </a:xfrm>
          <a:custGeom>
            <a:rect b="b" l="l" r="r" t="t"/>
            <a:pathLst>
              <a:path extrusionOk="0" h="41339" w="367665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58" name="Google Shape;558;p27"/>
          <p:cNvSpPr/>
          <p:nvPr/>
        </p:nvSpPr>
        <p:spPr>
          <a:xfrm>
            <a:off x="-28575" y="4578111"/>
            <a:ext cx="9191625" cy="584439"/>
          </a:xfrm>
          <a:custGeom>
            <a:rect b="b" l="l" r="r" t="t"/>
            <a:pathLst>
              <a:path extrusionOk="0" h="33910" w="367665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59" name="Google Shape;559;p27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E28F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7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7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fmla="val 100000" name="adj"/>
            </a:avLst>
          </a:prstGeom>
          <a:solidFill>
            <a:srgbClr val="00CE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2" name="Google Shape;562;p27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563" name="Google Shape;563;p27"/>
            <p:cNvSpPr/>
            <p:nvPr/>
          </p:nvSpPr>
          <p:spPr>
            <a:xfrm>
              <a:off x="-9525" y="4581525"/>
              <a:ext cx="4205300" cy="476250"/>
            </a:xfrm>
            <a:custGeom>
              <a:rect b="b" l="l" r="r" t="t"/>
              <a:pathLst>
                <a:path extrusionOk="0" h="19050" w="168212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64" name="Google Shape;564;p27"/>
            <p:cNvSpPr/>
            <p:nvPr/>
          </p:nvSpPr>
          <p:spPr>
            <a:xfrm>
              <a:off x="4195775" y="4462475"/>
              <a:ext cx="3424225" cy="590550"/>
            </a:xfrm>
            <a:custGeom>
              <a:rect b="b" l="l" r="r" t="t"/>
              <a:pathLst>
                <a:path extrusionOk="0" h="23622" w="136969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65" name="Google Shape;565;p27"/>
            <p:cNvSpPr/>
            <p:nvPr/>
          </p:nvSpPr>
          <p:spPr>
            <a:xfrm>
              <a:off x="7624775" y="4472000"/>
              <a:ext cx="1533525" cy="414325"/>
            </a:xfrm>
            <a:custGeom>
              <a:rect b="b" l="l" r="r" t="t"/>
              <a:pathLst>
                <a:path extrusionOk="0" h="16573" w="61341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cap="flat" cmpd="sng" w="9525">
              <a:solidFill>
                <a:srgbClr val="3C78D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566" name="Google Shape;566;p27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567" name="Google Shape;567;p2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27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7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fmla="val 100000" name="adj"/>
            </a:avLst>
          </a:prstGeom>
          <a:noFill/>
          <a:ln cap="flat" cmpd="sng" w="28575">
            <a:solidFill>
              <a:srgbClr val="E28F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8" name="Google Shape;59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9" name="Google Shape;5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2" name="Google Shape;602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3" name="Google Shape;60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b="1" sz="2000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908575" y="927550"/>
            <a:ext cx="7316400" cy="3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  <a:defRPr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0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Algebra Review, Brief</a:t>
            </a:r>
            <a:endParaRPr/>
          </a:p>
        </p:txBody>
      </p:sp>
      <p:sp>
        <p:nvSpPr>
          <p:cNvPr id="609" name="Google Shape;609;p30"/>
          <p:cNvSpPr txBox="1"/>
          <p:nvPr>
            <p:ph idx="1" type="body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Matrix </a:t>
            </a:r>
            <a:r>
              <a:rPr lang="en" sz="1700"/>
              <a:t>multiplication</a:t>
            </a:r>
            <a:endParaRPr sz="17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Dot Product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Transpose</a:t>
            </a:r>
            <a:endParaRPr sz="17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Eigenvectors</a:t>
            </a:r>
            <a:endParaRPr sz="1700"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Eigenvalues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1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  <p:pic>
        <p:nvPicPr>
          <p:cNvPr id="615" name="Google Shape;61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00" y="1005100"/>
            <a:ext cx="4998151" cy="302744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1"/>
          <p:cNvSpPr txBox="1"/>
          <p:nvPr/>
        </p:nvSpPr>
        <p:spPr>
          <a:xfrm>
            <a:off x="5468050" y="1450800"/>
            <a:ext cx="3174900" cy="25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mat(a) * mat(b) = mat(c)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 will have row count of a and column count of b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o be able to multiply matrices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correctly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the column of a and the rows of b must be equal 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2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</a:t>
            </a:r>
            <a:endParaRPr/>
          </a:p>
        </p:txBody>
      </p:sp>
      <p:pic>
        <p:nvPicPr>
          <p:cNvPr id="622" name="Google Shape;6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75" y="1060025"/>
            <a:ext cx="43053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2"/>
          <p:cNvPicPr preferRelativeResize="0"/>
          <p:nvPr/>
        </p:nvPicPr>
        <p:blipFill rotWithShape="1">
          <a:blip r:embed="rId4">
            <a:alphaModFix/>
          </a:blip>
          <a:srcRect b="8" l="14782" r="17873" t="18724"/>
          <a:stretch/>
        </p:blipFill>
        <p:spPr>
          <a:xfrm>
            <a:off x="5069425" y="1144062"/>
            <a:ext cx="3521576" cy="28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3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Transpose Matrix</a:t>
            </a:r>
            <a:endParaRPr/>
          </a:p>
        </p:txBody>
      </p:sp>
      <p:pic>
        <p:nvPicPr>
          <p:cNvPr id="629" name="Google Shape;629;p33"/>
          <p:cNvPicPr preferRelativeResize="0"/>
          <p:nvPr/>
        </p:nvPicPr>
        <p:blipFill rotWithShape="1">
          <a:blip r:embed="rId3">
            <a:alphaModFix/>
          </a:blip>
          <a:srcRect b="7995" l="0" r="0" t="0"/>
          <a:stretch/>
        </p:blipFill>
        <p:spPr>
          <a:xfrm>
            <a:off x="460125" y="1336400"/>
            <a:ext cx="4430950" cy="2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3"/>
          <p:cNvSpPr txBox="1"/>
          <p:nvPr/>
        </p:nvSpPr>
        <p:spPr>
          <a:xfrm>
            <a:off x="5529400" y="1743750"/>
            <a:ext cx="28869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Flip the original matrices rows with its columns to derive the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transpose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of a matrix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Eigenvectors &amp; Eigenvalues</a:t>
            </a:r>
            <a:endParaRPr/>
          </a:p>
        </p:txBody>
      </p:sp>
      <p:pic>
        <p:nvPicPr>
          <p:cNvPr id="636" name="Google Shape;6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50" y="1452100"/>
            <a:ext cx="4014200" cy="20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4"/>
          <p:cNvSpPr txBox="1"/>
          <p:nvPr/>
        </p:nvSpPr>
        <p:spPr>
          <a:xfrm>
            <a:off x="4899275" y="1724275"/>
            <a:ext cx="4259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Eigenvector: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Nonzero Vector v in such that Av=λ,  for some scalar λ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Eigenvalue: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Scalar value that makes it so Av=λv has non trivial solution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pic>
        <p:nvPicPr>
          <p:cNvPr id="643" name="Google Shape;6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350" y="1026675"/>
            <a:ext cx="6272849" cy="26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graphicFrame>
        <p:nvGraphicFramePr>
          <p:cNvPr id="649" name="Google Shape;649;p36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{12EB5CF0-282E-46BA-9E52-4FD794C5062D}</a:tableStyleId>
              </a:tblPr>
              <a:tblGrid>
                <a:gridCol w="743175"/>
                <a:gridCol w="743175"/>
                <a:gridCol w="743175"/>
                <a:gridCol w="743175"/>
                <a:gridCol w="743175"/>
                <a:gridCol w="743175"/>
              </a:tblGrid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50" name="Google Shape;6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325" y="1109340"/>
            <a:ext cx="3048101" cy="29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6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Two measures of transcription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7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graphicFrame>
        <p:nvGraphicFramePr>
          <p:cNvPr id="657" name="Google Shape;657;p37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{12EB5CF0-282E-46BA-9E52-4FD794C5062D}</a:tableStyleId>
              </a:tblPr>
              <a:tblGrid>
                <a:gridCol w="743175"/>
                <a:gridCol w="743175"/>
                <a:gridCol w="743175"/>
                <a:gridCol w="743175"/>
                <a:gridCol w="743175"/>
                <a:gridCol w="743175"/>
              </a:tblGrid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67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39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58" name="Google Shape;65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325" y="1109340"/>
            <a:ext cx="3048101" cy="29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37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Three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measures of transcription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5880800" y="243567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6068100" y="2052325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5854451" y="1320247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7547775" y="328572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4" name="Google Shape;664;p37"/>
          <p:cNvSpPr/>
          <p:nvPr/>
        </p:nvSpPr>
        <p:spPr>
          <a:xfrm>
            <a:off x="7809769" y="354967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5" name="Google Shape;665;p37"/>
          <p:cNvSpPr txBox="1"/>
          <p:nvPr/>
        </p:nvSpPr>
        <p:spPr>
          <a:xfrm>
            <a:off x="5352125" y="4051300"/>
            <a:ext cx="367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Bigger dots are closer (on third axis)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66" name="Google Shape;666;p37"/>
          <p:cNvCxnSpPr/>
          <p:nvPr/>
        </p:nvCxnSpPr>
        <p:spPr>
          <a:xfrm flipH="1" rot="10800000">
            <a:off x="5477875" y="2238550"/>
            <a:ext cx="30384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37"/>
          <p:cNvSpPr txBox="1"/>
          <p:nvPr/>
        </p:nvSpPr>
        <p:spPr>
          <a:xfrm>
            <a:off x="7829150" y="181185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Third axis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8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graphicFrame>
        <p:nvGraphicFramePr>
          <p:cNvPr id="673" name="Google Shape;673;p38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{12EB5CF0-282E-46BA-9E52-4FD794C5062D}</a:tableStyleId>
              </a:tblPr>
              <a:tblGrid>
                <a:gridCol w="743175"/>
                <a:gridCol w="743175"/>
                <a:gridCol w="743175"/>
                <a:gridCol w="743175"/>
                <a:gridCol w="743175"/>
                <a:gridCol w="743175"/>
              </a:tblGrid>
              <a:tr h="546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39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74" name="Google Shape;674;p38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More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measures of transcription!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75" name="Google Shape;675;p38"/>
          <p:cNvSpPr txBox="1"/>
          <p:nvPr/>
        </p:nvSpPr>
        <p:spPr>
          <a:xfrm>
            <a:off x="6816250" y="1704225"/>
            <a:ext cx="10278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990000"/>
                </a:solidFill>
                <a:latin typeface="Lora"/>
                <a:ea typeface="Lora"/>
                <a:cs typeface="Lora"/>
                <a:sym typeface="Lora"/>
              </a:rPr>
              <a:t>?</a:t>
            </a:r>
            <a:endParaRPr sz="9600">
              <a:solidFill>
                <a:srgbClr val="99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9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graphicFrame>
        <p:nvGraphicFramePr>
          <p:cNvPr id="681" name="Google Shape;681;p39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{12EB5CF0-282E-46BA-9E52-4FD794C5062D}</a:tableStyleId>
              </a:tblPr>
              <a:tblGrid>
                <a:gridCol w="743175"/>
                <a:gridCol w="743175"/>
                <a:gridCol w="743175"/>
                <a:gridCol w="743175"/>
                <a:gridCol w="743175"/>
                <a:gridCol w="743175"/>
              </a:tblGrid>
              <a:tr h="546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16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59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47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39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53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4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100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101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2" name="Google Shape;682;p39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More measures of transcription!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3" name="Google Shape;683;p39"/>
          <p:cNvSpPr txBox="1"/>
          <p:nvPr/>
        </p:nvSpPr>
        <p:spPr>
          <a:xfrm>
            <a:off x="6816250" y="1551825"/>
            <a:ext cx="10278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990000"/>
                </a:solidFill>
                <a:latin typeface="Lora"/>
                <a:ea typeface="Lora"/>
                <a:cs typeface="Lora"/>
                <a:sym typeface="Lora"/>
              </a:rPr>
              <a:t>?</a:t>
            </a:r>
            <a:endParaRPr sz="9600">
              <a:solidFill>
                <a:srgbClr val="99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5472350" y="3144625"/>
            <a:ext cx="33597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PCA plots can take more measurements and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create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a 2D plot to show how subjects cluster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&amp; which gene is most valuable for clustering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0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pic>
        <p:nvPicPr>
          <p:cNvPr id="690" name="Google Shape;6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0" y="1085187"/>
            <a:ext cx="3053700" cy="297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1" name="Google Shape;691;p40"/>
          <p:cNvCxnSpPr/>
          <p:nvPr/>
        </p:nvCxnSpPr>
        <p:spPr>
          <a:xfrm flipH="1">
            <a:off x="1769900" y="1840225"/>
            <a:ext cx="685200" cy="7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2" name="Google Shape;692;p40"/>
          <p:cNvSpPr txBox="1"/>
          <p:nvPr/>
        </p:nvSpPr>
        <p:spPr>
          <a:xfrm>
            <a:off x="2411100" y="1537175"/>
            <a:ext cx="21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(avg x, avg y)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93" name="Google Shape;69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4450" y="1120225"/>
            <a:ext cx="3200434" cy="29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0"/>
          <p:cNvSpPr txBox="1"/>
          <p:nvPr/>
        </p:nvSpPr>
        <p:spPr>
          <a:xfrm>
            <a:off x="3698200" y="2723000"/>
            <a:ext cx="1778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Shift to make graph center around averages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5" name="Google Shape;695;p40"/>
          <p:cNvSpPr txBox="1"/>
          <p:nvPr/>
        </p:nvSpPr>
        <p:spPr>
          <a:xfrm>
            <a:off x="6416125" y="761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6" name="Google Shape;696;p40"/>
          <p:cNvSpPr txBox="1"/>
          <p:nvPr/>
        </p:nvSpPr>
        <p:spPr>
          <a:xfrm>
            <a:off x="8171425" y="2428038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7" name="Google Shape;697;p40"/>
          <p:cNvSpPr txBox="1"/>
          <p:nvPr/>
        </p:nvSpPr>
        <p:spPr>
          <a:xfrm>
            <a:off x="548725" y="761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8" name="Google Shape;698;p40"/>
          <p:cNvSpPr txBox="1"/>
          <p:nvPr/>
        </p:nvSpPr>
        <p:spPr>
          <a:xfrm>
            <a:off x="2984400" y="36002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1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pic>
        <p:nvPicPr>
          <p:cNvPr id="704" name="Google Shape;70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25" y="1089200"/>
            <a:ext cx="3080400" cy="3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41"/>
          <p:cNvSpPr txBox="1"/>
          <p:nvPr/>
        </p:nvSpPr>
        <p:spPr>
          <a:xfrm>
            <a:off x="3857425" y="1102375"/>
            <a:ext cx="514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6" name="Google Shape;706;p41"/>
          <p:cNvSpPr txBox="1"/>
          <p:nvPr/>
        </p:nvSpPr>
        <p:spPr>
          <a:xfrm>
            <a:off x="1515725" y="7218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7" name="Google Shape;707;p41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2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sp>
        <p:nvSpPr>
          <p:cNvPr id="713" name="Google Shape;713;p42"/>
          <p:cNvSpPr txBox="1"/>
          <p:nvPr/>
        </p:nvSpPr>
        <p:spPr>
          <a:xfrm>
            <a:off x="3857425" y="1102375"/>
            <a:ext cx="5147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PCA to determine which line fits best, each point is projected onto the line 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and keeps track of each projected point’s distance to origin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14" name="Google Shape;7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6" y="1102375"/>
            <a:ext cx="3339995" cy="3089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5" name="Google Shape;715;p42"/>
          <p:cNvCxnSpPr/>
          <p:nvPr/>
        </p:nvCxnSpPr>
        <p:spPr>
          <a:xfrm flipH="1" rot="10800000">
            <a:off x="1020950" y="2593100"/>
            <a:ext cx="718800" cy="2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6" name="Google Shape;716;p42"/>
          <p:cNvCxnSpPr/>
          <p:nvPr/>
        </p:nvCxnSpPr>
        <p:spPr>
          <a:xfrm flipH="1" rot="10800000">
            <a:off x="1334650" y="2439300"/>
            <a:ext cx="34800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7" name="Google Shape;717;p42"/>
          <p:cNvCxnSpPr/>
          <p:nvPr/>
        </p:nvCxnSpPr>
        <p:spPr>
          <a:xfrm flipH="1" rot="10800000">
            <a:off x="1032350" y="1534350"/>
            <a:ext cx="35370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8" name="Google Shape;718;p42"/>
          <p:cNvCxnSpPr/>
          <p:nvPr/>
        </p:nvCxnSpPr>
        <p:spPr>
          <a:xfrm flipH="1">
            <a:off x="2230200" y="3762475"/>
            <a:ext cx="610200" cy="2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9" name="Google Shape;719;p42"/>
          <p:cNvCxnSpPr/>
          <p:nvPr/>
        </p:nvCxnSpPr>
        <p:spPr>
          <a:xfrm flipH="1">
            <a:off x="2843600" y="4082550"/>
            <a:ext cx="303300" cy="1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42"/>
          <p:cNvSpPr/>
          <p:nvPr/>
        </p:nvSpPr>
        <p:spPr>
          <a:xfrm rot="-1064680">
            <a:off x="1315323" y="1544469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1" name="Google Shape;721;p42"/>
          <p:cNvSpPr/>
          <p:nvPr/>
        </p:nvSpPr>
        <p:spPr>
          <a:xfrm rot="-1064680">
            <a:off x="1625523" y="2456919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2" name="Google Shape;722;p42"/>
          <p:cNvSpPr/>
          <p:nvPr/>
        </p:nvSpPr>
        <p:spPr>
          <a:xfrm rot="-1064680">
            <a:off x="1683702" y="2607906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3" name="Google Shape;723;p42"/>
          <p:cNvSpPr/>
          <p:nvPr/>
        </p:nvSpPr>
        <p:spPr>
          <a:xfrm rot="-1064680">
            <a:off x="2210848" y="3936094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24" name="Google Shape;724;p42"/>
          <p:cNvCxnSpPr/>
          <p:nvPr/>
        </p:nvCxnSpPr>
        <p:spPr>
          <a:xfrm>
            <a:off x="4896475" y="3978175"/>
            <a:ext cx="3069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42"/>
          <p:cNvCxnSpPr/>
          <p:nvPr/>
        </p:nvCxnSpPr>
        <p:spPr>
          <a:xfrm>
            <a:off x="6325225" y="2933950"/>
            <a:ext cx="0" cy="18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42"/>
          <p:cNvSpPr/>
          <p:nvPr/>
        </p:nvSpPr>
        <p:spPr>
          <a:xfrm>
            <a:off x="5290550" y="3287300"/>
            <a:ext cx="42600" cy="4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27" name="Google Shape;727;p42"/>
          <p:cNvCxnSpPr/>
          <p:nvPr/>
        </p:nvCxnSpPr>
        <p:spPr>
          <a:xfrm rot="10800000">
            <a:off x="5535300" y="2696775"/>
            <a:ext cx="792900" cy="1287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8" name="Google Shape;728;p42"/>
          <p:cNvCxnSpPr>
            <a:endCxn id="726" idx="5"/>
          </p:cNvCxnSpPr>
          <p:nvPr/>
        </p:nvCxnSpPr>
        <p:spPr>
          <a:xfrm rot="10800000">
            <a:off x="5326911" y="3323661"/>
            <a:ext cx="1001400" cy="655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9" name="Google Shape;729;p42"/>
          <p:cNvSpPr txBox="1"/>
          <p:nvPr/>
        </p:nvSpPr>
        <p:spPr>
          <a:xfrm>
            <a:off x="5494750" y="3529750"/>
            <a:ext cx="26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endParaRPr sz="1000">
              <a:solidFill>
                <a:srgbClr val="6AA8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30" name="Google Shape;730;p42"/>
          <p:cNvSpPr txBox="1"/>
          <p:nvPr/>
        </p:nvSpPr>
        <p:spPr>
          <a:xfrm>
            <a:off x="5655650" y="2721975"/>
            <a:ext cx="26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b</a:t>
            </a:r>
            <a:endParaRPr sz="10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31" name="Google Shape;731;p42"/>
          <p:cNvCxnSpPr/>
          <p:nvPr/>
        </p:nvCxnSpPr>
        <p:spPr>
          <a:xfrm flipH="1" rot="10800000">
            <a:off x="5326911" y="3026539"/>
            <a:ext cx="399900" cy="2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42"/>
          <p:cNvCxnSpPr/>
          <p:nvPr/>
        </p:nvCxnSpPr>
        <p:spPr>
          <a:xfrm rot="10800000">
            <a:off x="5733825" y="3027550"/>
            <a:ext cx="599700" cy="9462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3" name="Google Shape;733;p42"/>
          <p:cNvSpPr txBox="1"/>
          <p:nvPr/>
        </p:nvSpPr>
        <p:spPr>
          <a:xfrm>
            <a:off x="5799100" y="3027550"/>
            <a:ext cx="647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78D8"/>
                </a:solidFill>
                <a:latin typeface="Lora"/>
                <a:ea typeface="Lora"/>
                <a:cs typeface="Lora"/>
                <a:sym typeface="Lora"/>
              </a:rPr>
              <a:t>a⋅</a:t>
            </a:r>
            <a:r>
              <a:rPr lang="en" sz="1000">
                <a:solidFill>
                  <a:srgbClr val="3C78D8"/>
                </a:solidFill>
                <a:latin typeface="Lora"/>
                <a:ea typeface="Lora"/>
                <a:cs typeface="Lora"/>
                <a:sym typeface="Lora"/>
              </a:rPr>
              <a:t>b/‖b‖</a:t>
            </a:r>
            <a:endParaRPr sz="1000">
              <a:solidFill>
                <a:srgbClr val="3C78D8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C78D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34" name="Google Shape;734;p42"/>
          <p:cNvSpPr txBox="1"/>
          <p:nvPr/>
        </p:nvSpPr>
        <p:spPr>
          <a:xfrm>
            <a:off x="6450550" y="3278350"/>
            <a:ext cx="1398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Keeps track of distance to origin</a:t>
            </a:r>
            <a:endParaRPr sz="9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35" name="Google Shape;735;p42"/>
          <p:cNvCxnSpPr/>
          <p:nvPr/>
        </p:nvCxnSpPr>
        <p:spPr>
          <a:xfrm>
            <a:off x="5648550" y="3089300"/>
            <a:ext cx="63000" cy="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2"/>
          <p:cNvCxnSpPr/>
          <p:nvPr/>
        </p:nvCxnSpPr>
        <p:spPr>
          <a:xfrm flipH="1" rot="10800000">
            <a:off x="5711625" y="3127975"/>
            <a:ext cx="83400" cy="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42"/>
          <p:cNvSpPr txBox="1"/>
          <p:nvPr/>
        </p:nvSpPr>
        <p:spPr>
          <a:xfrm>
            <a:off x="1575375" y="8149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38" name="Google Shape;738;p42"/>
          <p:cNvSpPr txBox="1"/>
          <p:nvPr/>
        </p:nvSpPr>
        <p:spPr>
          <a:xfrm>
            <a:off x="3151925" y="2654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sp>
        <p:nvSpPr>
          <p:cNvPr id="744" name="Google Shape;744;p43"/>
          <p:cNvSpPr txBox="1"/>
          <p:nvPr/>
        </p:nvSpPr>
        <p:spPr>
          <a:xfrm>
            <a:off x="3857425" y="1102375"/>
            <a:ext cx="51474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PCA to determine which line fits best, each point is projected onto the line and keeps track of each projected point’s distance to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origin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Each distance is squared and summed together to get sum of squared distances (SSD) 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(d1)²+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(d2)²+(d3)²+(d4)²+(d5)² = SSD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45" name="Google Shape;74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6" y="1102375"/>
            <a:ext cx="3339995" cy="3089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6" name="Google Shape;746;p43"/>
          <p:cNvCxnSpPr/>
          <p:nvPr/>
        </p:nvCxnSpPr>
        <p:spPr>
          <a:xfrm flipH="1" rot="10800000">
            <a:off x="1020950" y="2593100"/>
            <a:ext cx="718800" cy="2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43"/>
          <p:cNvCxnSpPr/>
          <p:nvPr/>
        </p:nvCxnSpPr>
        <p:spPr>
          <a:xfrm flipH="1" rot="10800000">
            <a:off x="1334650" y="2439300"/>
            <a:ext cx="34800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43"/>
          <p:cNvCxnSpPr/>
          <p:nvPr/>
        </p:nvCxnSpPr>
        <p:spPr>
          <a:xfrm flipH="1" rot="10800000">
            <a:off x="1032350" y="1534350"/>
            <a:ext cx="35370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43"/>
          <p:cNvCxnSpPr/>
          <p:nvPr/>
        </p:nvCxnSpPr>
        <p:spPr>
          <a:xfrm flipH="1">
            <a:off x="2230200" y="3762475"/>
            <a:ext cx="610200" cy="2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43"/>
          <p:cNvCxnSpPr/>
          <p:nvPr/>
        </p:nvCxnSpPr>
        <p:spPr>
          <a:xfrm flipH="1">
            <a:off x="2843600" y="4082550"/>
            <a:ext cx="303300" cy="1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1" name="Google Shape;751;p43"/>
          <p:cNvSpPr/>
          <p:nvPr/>
        </p:nvSpPr>
        <p:spPr>
          <a:xfrm rot="-1064680">
            <a:off x="1315323" y="1544469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2" name="Google Shape;752;p43"/>
          <p:cNvSpPr/>
          <p:nvPr/>
        </p:nvSpPr>
        <p:spPr>
          <a:xfrm rot="-1064680">
            <a:off x="1625523" y="2456919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3" name="Google Shape;753;p43"/>
          <p:cNvSpPr/>
          <p:nvPr/>
        </p:nvSpPr>
        <p:spPr>
          <a:xfrm rot="-1064680">
            <a:off x="1683702" y="2607906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4" name="Google Shape;754;p43"/>
          <p:cNvSpPr/>
          <p:nvPr/>
        </p:nvSpPr>
        <p:spPr>
          <a:xfrm rot="-1064680">
            <a:off x="2210848" y="3936094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5" name="Google Shape;755;p43"/>
          <p:cNvSpPr/>
          <p:nvPr/>
        </p:nvSpPr>
        <p:spPr>
          <a:xfrm rot="-1057681">
            <a:off x="1625307" y="1456814"/>
            <a:ext cx="303134" cy="1512917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6" name="Google Shape;756;p43"/>
          <p:cNvSpPr/>
          <p:nvPr/>
        </p:nvSpPr>
        <p:spPr>
          <a:xfrm rot="-1057681">
            <a:off x="2056257" y="2898961"/>
            <a:ext cx="303134" cy="1106178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7" name="Google Shape;757;p43"/>
          <p:cNvSpPr/>
          <p:nvPr/>
        </p:nvSpPr>
        <p:spPr>
          <a:xfrm flipH="1" rot="-1057864">
            <a:off x="1446623" y="2653934"/>
            <a:ext cx="351617" cy="385584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8" name="Google Shape;758;p43"/>
          <p:cNvSpPr/>
          <p:nvPr/>
        </p:nvSpPr>
        <p:spPr>
          <a:xfrm flipH="1" rot="-1057864">
            <a:off x="1756312" y="2997642"/>
            <a:ext cx="351617" cy="1519466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9" name="Google Shape;759;p43"/>
          <p:cNvSpPr/>
          <p:nvPr/>
        </p:nvSpPr>
        <p:spPr>
          <a:xfrm rot="-1058542">
            <a:off x="1776623" y="2380428"/>
            <a:ext cx="288048" cy="570404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0" name="Google Shape;760;p43"/>
          <p:cNvSpPr txBox="1"/>
          <p:nvPr/>
        </p:nvSpPr>
        <p:spPr>
          <a:xfrm>
            <a:off x="1878875" y="19728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1" name="Google Shape;761;p43"/>
          <p:cNvSpPr txBox="1"/>
          <p:nvPr/>
        </p:nvSpPr>
        <p:spPr>
          <a:xfrm>
            <a:off x="2014325" y="24259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d2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2" name="Google Shape;762;p43"/>
          <p:cNvSpPr txBox="1"/>
          <p:nvPr/>
        </p:nvSpPr>
        <p:spPr>
          <a:xfrm>
            <a:off x="1168075" y="27412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d3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3" name="Google Shape;763;p43"/>
          <p:cNvSpPr txBox="1"/>
          <p:nvPr/>
        </p:nvSpPr>
        <p:spPr>
          <a:xfrm>
            <a:off x="2282550" y="3175950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d4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4" name="Google Shape;764;p43"/>
          <p:cNvSpPr txBox="1"/>
          <p:nvPr/>
        </p:nvSpPr>
        <p:spPr>
          <a:xfrm>
            <a:off x="1470325" y="36179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d5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5" name="Google Shape;765;p43"/>
          <p:cNvSpPr txBox="1"/>
          <p:nvPr/>
        </p:nvSpPr>
        <p:spPr>
          <a:xfrm>
            <a:off x="1575375" y="8149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6" name="Google Shape;766;p43"/>
          <p:cNvSpPr txBox="1"/>
          <p:nvPr/>
        </p:nvSpPr>
        <p:spPr>
          <a:xfrm>
            <a:off x="3151925" y="2654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sp>
        <p:nvSpPr>
          <p:cNvPr id="772" name="Google Shape;772;p44"/>
          <p:cNvSpPr txBox="1"/>
          <p:nvPr/>
        </p:nvSpPr>
        <p:spPr>
          <a:xfrm>
            <a:off x="3857425" y="1102375"/>
            <a:ext cx="5147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PCA to determine which line fits best, each point is projected onto the line and keeps track of each projected point’s distance to origin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Each distance is squared and summed together to get sum of squared distances (SSD) 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(d1)²+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(d2)²+(d3)²+(d4)²+(d5)² = SSD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line that produces the largest SSD will be the best scoring line to fit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73" name="Google Shape;7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6" y="1102375"/>
            <a:ext cx="3339995" cy="3089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4" name="Google Shape;774;p44"/>
          <p:cNvCxnSpPr/>
          <p:nvPr/>
        </p:nvCxnSpPr>
        <p:spPr>
          <a:xfrm flipH="1" rot="10800000">
            <a:off x="1020950" y="2593100"/>
            <a:ext cx="718800" cy="2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5" name="Google Shape;775;p44"/>
          <p:cNvCxnSpPr/>
          <p:nvPr/>
        </p:nvCxnSpPr>
        <p:spPr>
          <a:xfrm flipH="1" rot="10800000">
            <a:off x="1334650" y="2439300"/>
            <a:ext cx="34800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44"/>
          <p:cNvCxnSpPr/>
          <p:nvPr/>
        </p:nvCxnSpPr>
        <p:spPr>
          <a:xfrm flipH="1" rot="10800000">
            <a:off x="1032350" y="1534350"/>
            <a:ext cx="35370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7" name="Google Shape;777;p44"/>
          <p:cNvCxnSpPr/>
          <p:nvPr/>
        </p:nvCxnSpPr>
        <p:spPr>
          <a:xfrm flipH="1">
            <a:off x="2230200" y="3762475"/>
            <a:ext cx="610200" cy="2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44"/>
          <p:cNvCxnSpPr/>
          <p:nvPr/>
        </p:nvCxnSpPr>
        <p:spPr>
          <a:xfrm flipH="1">
            <a:off x="2843600" y="4082550"/>
            <a:ext cx="303300" cy="10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44"/>
          <p:cNvSpPr/>
          <p:nvPr/>
        </p:nvSpPr>
        <p:spPr>
          <a:xfrm rot="-1064680">
            <a:off x="1315323" y="1544469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0" name="Google Shape;780;p44"/>
          <p:cNvSpPr/>
          <p:nvPr/>
        </p:nvSpPr>
        <p:spPr>
          <a:xfrm rot="-1064680">
            <a:off x="1625523" y="2456919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1" name="Google Shape;781;p44"/>
          <p:cNvSpPr/>
          <p:nvPr/>
        </p:nvSpPr>
        <p:spPr>
          <a:xfrm rot="-1064680">
            <a:off x="1683702" y="2607906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2" name="Google Shape;782;p44"/>
          <p:cNvSpPr/>
          <p:nvPr/>
        </p:nvSpPr>
        <p:spPr>
          <a:xfrm rot="-1064680">
            <a:off x="2210848" y="3936094"/>
            <a:ext cx="78746" cy="78746"/>
          </a:xfrm>
          <a:prstGeom prst="rect">
            <a:avLst/>
          </a:prstGeom>
          <a:noFill/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3" name="Google Shape;783;p44"/>
          <p:cNvSpPr/>
          <p:nvPr/>
        </p:nvSpPr>
        <p:spPr>
          <a:xfrm rot="-1057681">
            <a:off x="1625307" y="1456814"/>
            <a:ext cx="303134" cy="1512917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4" name="Google Shape;784;p44"/>
          <p:cNvSpPr/>
          <p:nvPr/>
        </p:nvSpPr>
        <p:spPr>
          <a:xfrm rot="-1057681">
            <a:off x="2056257" y="2898961"/>
            <a:ext cx="303134" cy="1106178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5" name="Google Shape;785;p44"/>
          <p:cNvSpPr/>
          <p:nvPr/>
        </p:nvSpPr>
        <p:spPr>
          <a:xfrm flipH="1" rot="-1057864">
            <a:off x="1446623" y="2653934"/>
            <a:ext cx="351617" cy="385584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6" name="Google Shape;786;p44"/>
          <p:cNvSpPr/>
          <p:nvPr/>
        </p:nvSpPr>
        <p:spPr>
          <a:xfrm flipH="1" rot="-1057864">
            <a:off x="1756312" y="2997642"/>
            <a:ext cx="351617" cy="1519466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7" name="Google Shape;787;p44"/>
          <p:cNvSpPr/>
          <p:nvPr/>
        </p:nvSpPr>
        <p:spPr>
          <a:xfrm rot="-1058542">
            <a:off x="1776623" y="2380428"/>
            <a:ext cx="288048" cy="570404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8" name="Google Shape;788;p44"/>
          <p:cNvSpPr txBox="1"/>
          <p:nvPr/>
        </p:nvSpPr>
        <p:spPr>
          <a:xfrm>
            <a:off x="1878875" y="19728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9" name="Google Shape;789;p44"/>
          <p:cNvSpPr txBox="1"/>
          <p:nvPr/>
        </p:nvSpPr>
        <p:spPr>
          <a:xfrm>
            <a:off x="2014325" y="24259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d2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0" name="Google Shape;790;p44"/>
          <p:cNvSpPr txBox="1"/>
          <p:nvPr/>
        </p:nvSpPr>
        <p:spPr>
          <a:xfrm>
            <a:off x="1168075" y="27412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d3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1" name="Google Shape;791;p44"/>
          <p:cNvSpPr txBox="1"/>
          <p:nvPr/>
        </p:nvSpPr>
        <p:spPr>
          <a:xfrm>
            <a:off x="2282550" y="3175950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d4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2" name="Google Shape;792;p44"/>
          <p:cNvSpPr txBox="1"/>
          <p:nvPr/>
        </p:nvSpPr>
        <p:spPr>
          <a:xfrm>
            <a:off x="1470325" y="36179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d5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3" name="Google Shape;793;p44"/>
          <p:cNvSpPr txBox="1"/>
          <p:nvPr/>
        </p:nvSpPr>
        <p:spPr>
          <a:xfrm>
            <a:off x="1575375" y="8149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4" name="Google Shape;794;p44"/>
          <p:cNvSpPr txBox="1"/>
          <p:nvPr/>
        </p:nvSpPr>
        <p:spPr>
          <a:xfrm>
            <a:off x="3151925" y="2654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pic>
        <p:nvPicPr>
          <p:cNvPr id="800" name="Google Shape;80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25" y="1089200"/>
            <a:ext cx="3080400" cy="3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45"/>
          <p:cNvSpPr txBox="1"/>
          <p:nvPr/>
        </p:nvSpPr>
        <p:spPr>
          <a:xfrm>
            <a:off x="3857425" y="1102375"/>
            <a:ext cx="5147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line that has the best fit is called Principal Component 1 or PC1. Its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slope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is -0.8419, telling us that Gene 1 is slightly more influential in describing how the data is spread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eigenvector for PC1 can be computed by making it a unit vector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2" name="Google Shape;802;p45"/>
          <p:cNvSpPr txBox="1"/>
          <p:nvPr/>
        </p:nvSpPr>
        <p:spPr>
          <a:xfrm>
            <a:off x="1515725" y="7218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3" name="Google Shape;803;p45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04" name="Google Shape;804;p45"/>
          <p:cNvCxnSpPr/>
          <p:nvPr/>
        </p:nvCxnSpPr>
        <p:spPr>
          <a:xfrm rot="10800000">
            <a:off x="1593850" y="2511425"/>
            <a:ext cx="304800" cy="2667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45"/>
          <p:cNvCxnSpPr/>
          <p:nvPr/>
        </p:nvCxnSpPr>
        <p:spPr>
          <a:xfrm rot="10800000">
            <a:off x="1629300" y="2765050"/>
            <a:ext cx="256500" cy="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5"/>
          <p:cNvCxnSpPr/>
          <p:nvPr/>
        </p:nvCxnSpPr>
        <p:spPr>
          <a:xfrm rot="10800000">
            <a:off x="1619025" y="2534775"/>
            <a:ext cx="5100" cy="235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07" name="Google Shape;807;p45"/>
          <p:cNvSpPr txBox="1"/>
          <p:nvPr/>
        </p:nvSpPr>
        <p:spPr>
          <a:xfrm>
            <a:off x="2995525" y="24309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8" name="Google Shape;808;p45"/>
          <p:cNvSpPr/>
          <p:nvPr/>
        </p:nvSpPr>
        <p:spPr>
          <a:xfrm>
            <a:off x="4297875" y="3035600"/>
            <a:ext cx="1556400" cy="7317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9" name="Google Shape;809;p45"/>
          <p:cNvSpPr txBox="1"/>
          <p:nvPr/>
        </p:nvSpPr>
        <p:spPr>
          <a:xfrm>
            <a:off x="4546875" y="3767300"/>
            <a:ext cx="1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-0.8419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0" name="Google Shape;810;p45"/>
          <p:cNvSpPr txBox="1"/>
          <p:nvPr/>
        </p:nvSpPr>
        <p:spPr>
          <a:xfrm>
            <a:off x="3976500" y="3131375"/>
            <a:ext cx="25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1" name="Google Shape;811;p45"/>
          <p:cNvSpPr/>
          <p:nvPr/>
        </p:nvSpPr>
        <p:spPr>
          <a:xfrm>
            <a:off x="5795300" y="3221375"/>
            <a:ext cx="700800" cy="23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2" name="Google Shape;812;p45"/>
          <p:cNvSpPr/>
          <p:nvPr/>
        </p:nvSpPr>
        <p:spPr>
          <a:xfrm>
            <a:off x="7307800" y="3055175"/>
            <a:ext cx="1556400" cy="731700"/>
          </a:xfrm>
          <a:prstGeom prst="rtTriangl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3" name="Google Shape;813;p45"/>
          <p:cNvSpPr txBox="1"/>
          <p:nvPr/>
        </p:nvSpPr>
        <p:spPr>
          <a:xfrm>
            <a:off x="7556800" y="3786875"/>
            <a:ext cx="105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-0.6440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4" name="Google Shape;814;p45"/>
          <p:cNvSpPr txBox="1"/>
          <p:nvPr/>
        </p:nvSpPr>
        <p:spPr>
          <a:xfrm>
            <a:off x="6579475" y="31232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0.7650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5" name="Google Shape;815;p45"/>
          <p:cNvSpPr txBox="1"/>
          <p:nvPr/>
        </p:nvSpPr>
        <p:spPr>
          <a:xfrm>
            <a:off x="4916325" y="30356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1.3072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6" name="Google Shape;816;p45"/>
          <p:cNvSpPr txBox="1"/>
          <p:nvPr/>
        </p:nvSpPr>
        <p:spPr>
          <a:xfrm>
            <a:off x="7962100" y="3035600"/>
            <a:ext cx="4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7" name="Google Shape;817;p45"/>
          <p:cNvSpPr txBox="1"/>
          <p:nvPr/>
        </p:nvSpPr>
        <p:spPr>
          <a:xfrm>
            <a:off x="6291800" y="3915825"/>
            <a:ext cx="10584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Loading scores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18" name="Google Shape;818;p45"/>
          <p:cNvCxnSpPr>
            <a:stCxn id="817" idx="0"/>
            <a:endCxn id="814" idx="2"/>
          </p:cNvCxnSpPr>
          <p:nvPr/>
        </p:nvCxnSpPr>
        <p:spPr>
          <a:xfrm flipH="1" rot="10800000">
            <a:off x="6821000" y="3538725"/>
            <a:ext cx="156300" cy="37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45"/>
          <p:cNvCxnSpPr>
            <a:endCxn id="813" idx="1"/>
          </p:cNvCxnSpPr>
          <p:nvPr/>
        </p:nvCxnSpPr>
        <p:spPr>
          <a:xfrm flipH="1" rot="10800000">
            <a:off x="7145800" y="3994625"/>
            <a:ext cx="411000" cy="2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pic>
        <p:nvPicPr>
          <p:cNvPr id="825" name="Google Shape;82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25" y="1089200"/>
            <a:ext cx="3080400" cy="3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46"/>
          <p:cNvSpPr txBox="1"/>
          <p:nvPr/>
        </p:nvSpPr>
        <p:spPr>
          <a:xfrm>
            <a:off x="3857425" y="1102375"/>
            <a:ext cx="5147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line that has the best fit is called Principal Component 1 or PC1. Its slope is -0.8419, telling us that Gene 1 is slightly more influential in describing how the data is spread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 for PC1 can be computed by getting the average of the sum squared distances (SSD)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SSD for PC1/(n-1) = eigenvalue for PC1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7" name="Google Shape;827;p46"/>
          <p:cNvSpPr txBox="1"/>
          <p:nvPr/>
        </p:nvSpPr>
        <p:spPr>
          <a:xfrm>
            <a:off x="1515725" y="7218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28" name="Google Shape;828;p46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29" name="Google Shape;829;p46"/>
          <p:cNvCxnSpPr/>
          <p:nvPr/>
        </p:nvCxnSpPr>
        <p:spPr>
          <a:xfrm rot="10800000">
            <a:off x="1593850" y="2511425"/>
            <a:ext cx="304800" cy="2667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46"/>
          <p:cNvCxnSpPr/>
          <p:nvPr/>
        </p:nvCxnSpPr>
        <p:spPr>
          <a:xfrm rot="10800000">
            <a:off x="1629300" y="2765050"/>
            <a:ext cx="256500" cy="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6"/>
          <p:cNvCxnSpPr/>
          <p:nvPr/>
        </p:nvCxnSpPr>
        <p:spPr>
          <a:xfrm rot="10800000">
            <a:off x="1619025" y="2534775"/>
            <a:ext cx="5100" cy="2355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32" name="Google Shape;832;p46"/>
          <p:cNvSpPr txBox="1"/>
          <p:nvPr/>
        </p:nvSpPr>
        <p:spPr>
          <a:xfrm>
            <a:off x="2995525" y="24309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50" y="1364513"/>
            <a:ext cx="2745858" cy="2628124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7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sp>
        <p:nvSpPr>
          <p:cNvPr id="839" name="Google Shape;839;p47"/>
          <p:cNvSpPr txBox="1"/>
          <p:nvPr/>
        </p:nvSpPr>
        <p:spPr>
          <a:xfrm>
            <a:off x="3857425" y="1102375"/>
            <a:ext cx="514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line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perpendicular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at the origin to PC1 is PC2, the slope for PC2 is -1/(slope of PCA). This means for PC2, Gene 2 is more influential than Gene 1. The eigenvalue, eigenvector, and singular vector is computed the same 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0" name="Google Shape;840;p47"/>
          <p:cNvSpPr txBox="1"/>
          <p:nvPr/>
        </p:nvSpPr>
        <p:spPr>
          <a:xfrm>
            <a:off x="1439525" y="9504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1" name="Google Shape;841;p47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2" name="Google Shape;842;p47"/>
          <p:cNvSpPr txBox="1"/>
          <p:nvPr/>
        </p:nvSpPr>
        <p:spPr>
          <a:xfrm>
            <a:off x="2995525" y="24309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43" name="Google Shape;843;p47"/>
          <p:cNvCxnSpPr/>
          <p:nvPr/>
        </p:nvCxnSpPr>
        <p:spPr>
          <a:xfrm flipH="1" rot="10800000">
            <a:off x="1878050" y="2472700"/>
            <a:ext cx="242700" cy="2886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44" name="Google Shape;844;p47"/>
          <p:cNvCxnSpPr/>
          <p:nvPr/>
        </p:nvCxnSpPr>
        <p:spPr>
          <a:xfrm>
            <a:off x="1862975" y="2754775"/>
            <a:ext cx="231000" cy="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47"/>
          <p:cNvCxnSpPr/>
          <p:nvPr/>
        </p:nvCxnSpPr>
        <p:spPr>
          <a:xfrm flipH="1" rot="10800000">
            <a:off x="2094100" y="2523575"/>
            <a:ext cx="6900" cy="2382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46" name="Google Shape;846;p47"/>
          <p:cNvSpPr txBox="1"/>
          <p:nvPr/>
        </p:nvSpPr>
        <p:spPr>
          <a:xfrm>
            <a:off x="210050" y="1621700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7" name="Google Shape;847;p47"/>
          <p:cNvSpPr txBox="1"/>
          <p:nvPr/>
        </p:nvSpPr>
        <p:spPr>
          <a:xfrm>
            <a:off x="2721700" y="1621700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8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</a:t>
            </a:r>
            <a:r>
              <a:rPr lang="en"/>
              <a:t>PCA Plots</a:t>
            </a:r>
            <a:endParaRPr/>
          </a:p>
        </p:txBody>
      </p:sp>
      <p:sp>
        <p:nvSpPr>
          <p:cNvPr id="853" name="Google Shape;853;p48"/>
          <p:cNvSpPr txBox="1"/>
          <p:nvPr/>
        </p:nvSpPr>
        <p:spPr>
          <a:xfrm>
            <a:off x="3857425" y="1102375"/>
            <a:ext cx="5147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new axes become PC1 and PC2 in the final PCA plot, and the points are projected from the axes.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computed for PC1 and PC2 earlier are measures for variation, and each can tell what percent of the variation each accounts for.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4" name="Google Shape;854;p48"/>
          <p:cNvSpPr txBox="1"/>
          <p:nvPr/>
        </p:nvSpPr>
        <p:spPr>
          <a:xfrm>
            <a:off x="1223375" y="7976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5" name="Google Shape;855;p48"/>
          <p:cNvSpPr txBox="1"/>
          <p:nvPr/>
        </p:nvSpPr>
        <p:spPr>
          <a:xfrm>
            <a:off x="3067550" y="2364000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56" name="Google Shape;856;p48"/>
          <p:cNvPicPr preferRelativeResize="0"/>
          <p:nvPr/>
        </p:nvPicPr>
        <p:blipFill rotWithShape="1">
          <a:blip r:embed="rId3">
            <a:alphaModFix/>
          </a:blip>
          <a:srcRect b="7132" l="4995" r="7668" t="5667"/>
          <a:stretch/>
        </p:blipFill>
        <p:spPr>
          <a:xfrm rot="-2426059">
            <a:off x="402556" y="1489016"/>
            <a:ext cx="2412888" cy="2398742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8"/>
          <p:cNvSpPr/>
          <p:nvPr/>
        </p:nvSpPr>
        <p:spPr>
          <a:xfrm>
            <a:off x="1575825" y="1818625"/>
            <a:ext cx="1015500" cy="100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8" name="Google Shape;858;p48"/>
          <p:cNvSpPr/>
          <p:nvPr/>
        </p:nvSpPr>
        <p:spPr>
          <a:xfrm>
            <a:off x="1575825" y="1482450"/>
            <a:ext cx="1351800" cy="133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9" name="Google Shape;859;p48"/>
          <p:cNvSpPr/>
          <p:nvPr/>
        </p:nvSpPr>
        <p:spPr>
          <a:xfrm rot="10800000">
            <a:off x="364125" y="2820000"/>
            <a:ext cx="1211700" cy="119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0" name="Google Shape;860;p48"/>
          <p:cNvSpPr/>
          <p:nvPr/>
        </p:nvSpPr>
        <p:spPr>
          <a:xfrm rot="10800000">
            <a:off x="1022625" y="2820275"/>
            <a:ext cx="559500" cy="56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1" name="Google Shape;861;p48"/>
          <p:cNvSpPr/>
          <p:nvPr/>
        </p:nvSpPr>
        <p:spPr>
          <a:xfrm rot="10800000">
            <a:off x="980625" y="2820000"/>
            <a:ext cx="595200" cy="625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2" name="Google Shape;862;p48"/>
          <p:cNvSpPr/>
          <p:nvPr/>
        </p:nvSpPr>
        <p:spPr>
          <a:xfrm>
            <a:off x="2539325" y="1768450"/>
            <a:ext cx="96900" cy="9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3" name="Google Shape;863;p48"/>
          <p:cNvSpPr/>
          <p:nvPr/>
        </p:nvSpPr>
        <p:spPr>
          <a:xfrm>
            <a:off x="2875475" y="1437100"/>
            <a:ext cx="96900" cy="9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4" name="Google Shape;864;p48"/>
          <p:cNvSpPr/>
          <p:nvPr/>
        </p:nvSpPr>
        <p:spPr>
          <a:xfrm>
            <a:off x="971575" y="3322000"/>
            <a:ext cx="96900" cy="9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5" name="Google Shape;865;p48"/>
          <p:cNvSpPr/>
          <p:nvPr/>
        </p:nvSpPr>
        <p:spPr>
          <a:xfrm>
            <a:off x="941525" y="3382775"/>
            <a:ext cx="96900" cy="9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6" name="Google Shape;866;p48"/>
          <p:cNvSpPr/>
          <p:nvPr/>
        </p:nvSpPr>
        <p:spPr>
          <a:xfrm>
            <a:off x="321425" y="3953050"/>
            <a:ext cx="96900" cy="9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4" y="1160204"/>
            <a:ext cx="3172801" cy="3036742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49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873" name="Google Shape;873;p49"/>
          <p:cNvSpPr txBox="1"/>
          <p:nvPr/>
        </p:nvSpPr>
        <p:spPr>
          <a:xfrm>
            <a:off x="3857425" y="1102375"/>
            <a:ext cx="514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With more genes, more axes are involved and more principal components are generated.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*Each PC is 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perpendicular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to each other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4" name="Google Shape;874;p49"/>
          <p:cNvSpPr/>
          <p:nvPr/>
        </p:nvSpPr>
        <p:spPr>
          <a:xfrm>
            <a:off x="988075" y="255572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5" name="Google Shape;875;p49"/>
          <p:cNvSpPr/>
          <p:nvPr/>
        </p:nvSpPr>
        <p:spPr>
          <a:xfrm>
            <a:off x="1175075" y="2176300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6" name="Google Shape;876;p49"/>
          <p:cNvSpPr/>
          <p:nvPr/>
        </p:nvSpPr>
        <p:spPr>
          <a:xfrm>
            <a:off x="961683" y="1443451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7" name="Google Shape;877;p49"/>
          <p:cNvSpPr/>
          <p:nvPr/>
        </p:nvSpPr>
        <p:spPr>
          <a:xfrm>
            <a:off x="2687850" y="343117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8" name="Google Shape;878;p49"/>
          <p:cNvSpPr/>
          <p:nvPr/>
        </p:nvSpPr>
        <p:spPr>
          <a:xfrm>
            <a:off x="2949219" y="371412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79" name="Google Shape;879;p49"/>
          <p:cNvCxnSpPr/>
          <p:nvPr/>
        </p:nvCxnSpPr>
        <p:spPr>
          <a:xfrm flipH="1" rot="10800000">
            <a:off x="418475" y="1869825"/>
            <a:ext cx="30384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49"/>
          <p:cNvSpPr txBox="1"/>
          <p:nvPr/>
        </p:nvSpPr>
        <p:spPr>
          <a:xfrm>
            <a:off x="2949225" y="199660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3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81" name="Google Shape;881;p49"/>
          <p:cNvCxnSpPr/>
          <p:nvPr/>
        </p:nvCxnSpPr>
        <p:spPr>
          <a:xfrm>
            <a:off x="1543925" y="1179725"/>
            <a:ext cx="653700" cy="30909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49"/>
          <p:cNvSpPr txBox="1"/>
          <p:nvPr/>
        </p:nvSpPr>
        <p:spPr>
          <a:xfrm>
            <a:off x="1046525" y="1084000"/>
            <a:ext cx="682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86E8"/>
                </a:solidFill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solidFill>
                <a:srgbClr val="4A86E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3" name="Google Shape;883;p49"/>
          <p:cNvSpPr txBox="1"/>
          <p:nvPr/>
        </p:nvSpPr>
        <p:spPr>
          <a:xfrm>
            <a:off x="200700" y="1635625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4" name="Google Shape;884;p49"/>
          <p:cNvSpPr txBox="1"/>
          <p:nvPr/>
        </p:nvSpPr>
        <p:spPr>
          <a:xfrm>
            <a:off x="2652225" y="9470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5" name="Google Shape;885;p49"/>
          <p:cNvSpPr txBox="1"/>
          <p:nvPr/>
        </p:nvSpPr>
        <p:spPr>
          <a:xfrm>
            <a:off x="3038025" y="2746975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1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6" name="Google Shape;886;p49"/>
          <p:cNvSpPr txBox="1"/>
          <p:nvPr/>
        </p:nvSpPr>
        <p:spPr>
          <a:xfrm>
            <a:off x="1590575" y="857175"/>
            <a:ext cx="653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2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4" y="1160204"/>
            <a:ext cx="3172801" cy="3036742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50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893" name="Google Shape;893;p50"/>
          <p:cNvSpPr txBox="1"/>
          <p:nvPr/>
        </p:nvSpPr>
        <p:spPr>
          <a:xfrm>
            <a:off x="3857425" y="1102375"/>
            <a:ext cx="5147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With more genes, more axes are involved and more principal components are generated.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*Each PC is perpendicular to each other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for each PC can be used to determine the portion of variation each PC accounts for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4" name="Google Shape;894;p50"/>
          <p:cNvSpPr/>
          <p:nvPr/>
        </p:nvSpPr>
        <p:spPr>
          <a:xfrm>
            <a:off x="988075" y="255572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5" name="Google Shape;895;p50"/>
          <p:cNvSpPr/>
          <p:nvPr/>
        </p:nvSpPr>
        <p:spPr>
          <a:xfrm>
            <a:off x="1175075" y="2176300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6" name="Google Shape;896;p50"/>
          <p:cNvSpPr/>
          <p:nvPr/>
        </p:nvSpPr>
        <p:spPr>
          <a:xfrm>
            <a:off x="961683" y="1443451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7" name="Google Shape;897;p50"/>
          <p:cNvSpPr/>
          <p:nvPr/>
        </p:nvSpPr>
        <p:spPr>
          <a:xfrm>
            <a:off x="2687850" y="343117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8" name="Google Shape;898;p50"/>
          <p:cNvSpPr/>
          <p:nvPr/>
        </p:nvSpPr>
        <p:spPr>
          <a:xfrm>
            <a:off x="2949219" y="371412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99" name="Google Shape;899;p50"/>
          <p:cNvCxnSpPr/>
          <p:nvPr/>
        </p:nvCxnSpPr>
        <p:spPr>
          <a:xfrm flipH="1" rot="10800000">
            <a:off x="418475" y="1869825"/>
            <a:ext cx="30384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50"/>
          <p:cNvSpPr txBox="1"/>
          <p:nvPr/>
        </p:nvSpPr>
        <p:spPr>
          <a:xfrm>
            <a:off x="2949225" y="199660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3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01" name="Google Shape;901;p50"/>
          <p:cNvCxnSpPr/>
          <p:nvPr/>
        </p:nvCxnSpPr>
        <p:spPr>
          <a:xfrm>
            <a:off x="1543925" y="1179725"/>
            <a:ext cx="653700" cy="30909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0"/>
          <p:cNvSpPr txBox="1"/>
          <p:nvPr/>
        </p:nvSpPr>
        <p:spPr>
          <a:xfrm>
            <a:off x="1046525" y="1084000"/>
            <a:ext cx="682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86E8"/>
                </a:solidFill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solidFill>
                <a:srgbClr val="4A86E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3" name="Google Shape;903;p50"/>
          <p:cNvSpPr txBox="1"/>
          <p:nvPr/>
        </p:nvSpPr>
        <p:spPr>
          <a:xfrm>
            <a:off x="200700" y="1635625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4" name="Google Shape;904;p50"/>
          <p:cNvSpPr txBox="1"/>
          <p:nvPr/>
        </p:nvSpPr>
        <p:spPr>
          <a:xfrm>
            <a:off x="2652225" y="9470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5" name="Google Shape;905;p50"/>
          <p:cNvSpPr txBox="1"/>
          <p:nvPr/>
        </p:nvSpPr>
        <p:spPr>
          <a:xfrm>
            <a:off x="3038025" y="2746975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1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6" name="Google Shape;906;p50"/>
          <p:cNvSpPr txBox="1"/>
          <p:nvPr/>
        </p:nvSpPr>
        <p:spPr>
          <a:xfrm>
            <a:off x="1590575" y="857175"/>
            <a:ext cx="653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2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4" y="1160204"/>
            <a:ext cx="3172801" cy="3036742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51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913" name="Google Shape;913;p51"/>
          <p:cNvSpPr txBox="1"/>
          <p:nvPr/>
        </p:nvSpPr>
        <p:spPr>
          <a:xfrm>
            <a:off x="3857425" y="1102375"/>
            <a:ext cx="51474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With more genes, more axes are involved and more principal components are generated.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*Each PC is perpendicular to each other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for each PC can be used to determine the portion of variation each PC accounts for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representation in a 2D plot, the top two PCs that account for the most variation would be used as xy axes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4" name="Google Shape;914;p51"/>
          <p:cNvSpPr/>
          <p:nvPr/>
        </p:nvSpPr>
        <p:spPr>
          <a:xfrm>
            <a:off x="988075" y="255572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5" name="Google Shape;915;p51"/>
          <p:cNvSpPr/>
          <p:nvPr/>
        </p:nvSpPr>
        <p:spPr>
          <a:xfrm>
            <a:off x="1175075" y="2176300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6" name="Google Shape;916;p51"/>
          <p:cNvSpPr/>
          <p:nvPr/>
        </p:nvSpPr>
        <p:spPr>
          <a:xfrm>
            <a:off x="961683" y="1443451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7" name="Google Shape;917;p51"/>
          <p:cNvSpPr/>
          <p:nvPr/>
        </p:nvSpPr>
        <p:spPr>
          <a:xfrm>
            <a:off x="2687850" y="343117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8" name="Google Shape;918;p51"/>
          <p:cNvSpPr/>
          <p:nvPr/>
        </p:nvSpPr>
        <p:spPr>
          <a:xfrm>
            <a:off x="2949219" y="371412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19" name="Google Shape;919;p51"/>
          <p:cNvCxnSpPr/>
          <p:nvPr/>
        </p:nvCxnSpPr>
        <p:spPr>
          <a:xfrm flipH="1" rot="10800000">
            <a:off x="418475" y="1869825"/>
            <a:ext cx="30384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0" name="Google Shape;920;p51"/>
          <p:cNvSpPr txBox="1"/>
          <p:nvPr/>
        </p:nvSpPr>
        <p:spPr>
          <a:xfrm>
            <a:off x="2949225" y="199660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3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21" name="Google Shape;921;p51"/>
          <p:cNvCxnSpPr/>
          <p:nvPr/>
        </p:nvCxnSpPr>
        <p:spPr>
          <a:xfrm>
            <a:off x="1543925" y="1179725"/>
            <a:ext cx="653700" cy="30909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51"/>
          <p:cNvSpPr txBox="1"/>
          <p:nvPr/>
        </p:nvSpPr>
        <p:spPr>
          <a:xfrm>
            <a:off x="1046525" y="1084000"/>
            <a:ext cx="6828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86E8"/>
                </a:solidFill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solidFill>
                <a:srgbClr val="4A86E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3" name="Google Shape;923;p51"/>
          <p:cNvSpPr txBox="1"/>
          <p:nvPr/>
        </p:nvSpPr>
        <p:spPr>
          <a:xfrm>
            <a:off x="200700" y="1635625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4" name="Google Shape;924;p51"/>
          <p:cNvSpPr txBox="1"/>
          <p:nvPr/>
        </p:nvSpPr>
        <p:spPr>
          <a:xfrm>
            <a:off x="2652225" y="9470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5" name="Google Shape;925;p51"/>
          <p:cNvSpPr txBox="1"/>
          <p:nvPr/>
        </p:nvSpPr>
        <p:spPr>
          <a:xfrm>
            <a:off x="3038025" y="2746975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1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6" name="Google Shape;926;p51"/>
          <p:cNvSpPr txBox="1"/>
          <p:nvPr/>
        </p:nvSpPr>
        <p:spPr>
          <a:xfrm>
            <a:off x="1590575" y="857175"/>
            <a:ext cx="653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2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2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932" name="Google Shape;932;p52"/>
          <p:cNvSpPr txBox="1"/>
          <p:nvPr/>
        </p:nvSpPr>
        <p:spPr>
          <a:xfrm>
            <a:off x="3857425" y="1102375"/>
            <a:ext cx="5147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for each PC can be used to determine the portion of variation each PC accounts for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representation in a 2D plot, the top two PCs that account for the most variation would be used as xy axes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If this was PC3 and PC1, the graph would look something like this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*If more than two genes accounted for much of the variation, this graph would be less accurate to representing variation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33" name="Google Shape;933;p52"/>
          <p:cNvCxnSpPr/>
          <p:nvPr/>
        </p:nvCxnSpPr>
        <p:spPr>
          <a:xfrm>
            <a:off x="1850125" y="1183775"/>
            <a:ext cx="0" cy="283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52"/>
          <p:cNvCxnSpPr/>
          <p:nvPr/>
        </p:nvCxnSpPr>
        <p:spPr>
          <a:xfrm>
            <a:off x="262625" y="2571750"/>
            <a:ext cx="32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52"/>
          <p:cNvSpPr txBox="1"/>
          <p:nvPr/>
        </p:nvSpPr>
        <p:spPr>
          <a:xfrm>
            <a:off x="1585450" y="874275"/>
            <a:ext cx="8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6" name="Google Shape;936;p52"/>
          <p:cNvSpPr txBox="1"/>
          <p:nvPr/>
        </p:nvSpPr>
        <p:spPr>
          <a:xfrm>
            <a:off x="3137200" y="2256775"/>
            <a:ext cx="57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7" name="Google Shape;937;p52"/>
          <p:cNvSpPr/>
          <p:nvPr/>
        </p:nvSpPr>
        <p:spPr>
          <a:xfrm>
            <a:off x="2089125" y="1214900"/>
            <a:ext cx="117600" cy="117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8" name="Google Shape;938;p52"/>
          <p:cNvSpPr/>
          <p:nvPr/>
        </p:nvSpPr>
        <p:spPr>
          <a:xfrm>
            <a:off x="1932775" y="1367300"/>
            <a:ext cx="117600" cy="117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9" name="Google Shape;939;p52"/>
          <p:cNvSpPr/>
          <p:nvPr/>
        </p:nvSpPr>
        <p:spPr>
          <a:xfrm>
            <a:off x="1533400" y="3352425"/>
            <a:ext cx="117600" cy="117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0" name="Google Shape;940;p52"/>
          <p:cNvSpPr/>
          <p:nvPr/>
        </p:nvSpPr>
        <p:spPr>
          <a:xfrm>
            <a:off x="1685800" y="3570500"/>
            <a:ext cx="117600" cy="117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1" name="Google Shape;941;p52"/>
          <p:cNvSpPr/>
          <p:nvPr/>
        </p:nvSpPr>
        <p:spPr>
          <a:xfrm>
            <a:off x="1651000" y="3801725"/>
            <a:ext cx="117600" cy="117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3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graphicFrame>
        <p:nvGraphicFramePr>
          <p:cNvPr id="947" name="Google Shape;947;p53"/>
          <p:cNvGraphicFramePr/>
          <p:nvPr/>
        </p:nvGraphicFramePr>
        <p:xfrm>
          <a:off x="460250" y="10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{12EB5CF0-282E-46BA-9E52-4FD794C5062D}</a:tableStyleId>
              </a:tblPr>
              <a:tblGrid>
                <a:gridCol w="719050"/>
                <a:gridCol w="719050"/>
                <a:gridCol w="719050"/>
                <a:gridCol w="719050"/>
                <a:gridCol w="719050"/>
              </a:tblGrid>
              <a:tr h="573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Subject 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Subject 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Subject 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p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60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8" name="Google Shape;948;p53"/>
          <p:cNvSpPr txBox="1"/>
          <p:nvPr/>
        </p:nvSpPr>
        <p:spPr>
          <a:xfrm>
            <a:off x="4975625" y="1078650"/>
            <a:ext cx="264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Represent as Matrix X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49" name="Google Shape;949;p53"/>
          <p:cNvPicPr preferRelativeResize="0"/>
          <p:nvPr/>
        </p:nvPicPr>
        <p:blipFill rotWithShape="1">
          <a:blip r:embed="rId3">
            <a:alphaModFix/>
          </a:blip>
          <a:srcRect b="0" l="9477" r="0" t="0"/>
          <a:stretch/>
        </p:blipFill>
        <p:spPr>
          <a:xfrm>
            <a:off x="5192825" y="1698525"/>
            <a:ext cx="24315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4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955" name="Google Shape;955;p54"/>
          <p:cNvSpPr txBox="1"/>
          <p:nvPr/>
        </p:nvSpPr>
        <p:spPr>
          <a:xfrm>
            <a:off x="913875" y="1119975"/>
            <a:ext cx="264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Calculate Mean of each Feature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56" name="Google Shape;956;p54"/>
          <p:cNvSpPr txBox="1"/>
          <p:nvPr/>
        </p:nvSpPr>
        <p:spPr>
          <a:xfrm>
            <a:off x="4023475" y="1485325"/>
            <a:ext cx="377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Then center X data by subtracting mean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57" name="Google Shape;95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525" y="1900825"/>
            <a:ext cx="12954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125" y="2063675"/>
            <a:ext cx="25241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55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964" name="Google Shape;964;p55"/>
          <p:cNvSpPr txBox="1"/>
          <p:nvPr/>
        </p:nvSpPr>
        <p:spPr>
          <a:xfrm>
            <a:off x="2960525" y="1168000"/>
            <a:ext cx="377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Compute the Covariance Matrix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65" name="Google Shape;96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563" y="1683575"/>
            <a:ext cx="3362325" cy="77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6" name="Google Shape;966;p55"/>
          <p:cNvCxnSpPr/>
          <p:nvPr/>
        </p:nvCxnSpPr>
        <p:spPr>
          <a:xfrm rot="10800000">
            <a:off x="4640050" y="2403750"/>
            <a:ext cx="450000" cy="62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7" name="Google Shape;967;p55"/>
          <p:cNvSpPr txBox="1"/>
          <p:nvPr/>
        </p:nvSpPr>
        <p:spPr>
          <a:xfrm>
            <a:off x="4922575" y="3115675"/>
            <a:ext cx="263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Transpose of centered data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68" name="Google Shape;968;p55"/>
          <p:cNvCxnSpPr/>
          <p:nvPr/>
        </p:nvCxnSpPr>
        <p:spPr>
          <a:xfrm flipH="1" rot="10800000">
            <a:off x="3593275" y="2424725"/>
            <a:ext cx="198900" cy="5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9" name="Google Shape;969;p55"/>
          <p:cNvSpPr txBox="1"/>
          <p:nvPr/>
        </p:nvSpPr>
        <p:spPr>
          <a:xfrm>
            <a:off x="1824350" y="3000175"/>
            <a:ext cx="299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Used to get unbiased estimate of covariance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56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pic>
        <p:nvPicPr>
          <p:cNvPr id="975" name="Google Shape;9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200" y="1207325"/>
            <a:ext cx="33623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56"/>
          <p:cNvSpPr txBox="1"/>
          <p:nvPr/>
        </p:nvSpPr>
        <p:spPr>
          <a:xfrm>
            <a:off x="1685100" y="2311900"/>
            <a:ext cx="6243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Covariance matrix is a p by p matrix, each element represents covariance between feature i and j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</a:t>
            </a:r>
            <a:r>
              <a:rPr baseline="-25000" lang="en" sz="1500">
                <a:latin typeface="Lora"/>
                <a:ea typeface="Lora"/>
                <a:cs typeface="Lora"/>
                <a:sym typeface="Lora"/>
              </a:rPr>
              <a:t>i,i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represents variance of each feature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baseline="-25000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i,j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represents covariance between different features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57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PCA Plots, with Linear Algebra</a:t>
            </a:r>
            <a:endParaRPr/>
          </a:p>
        </p:txBody>
      </p:sp>
      <p:pic>
        <p:nvPicPr>
          <p:cNvPr id="982" name="Google Shape;98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675" y="1500575"/>
            <a:ext cx="10668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57"/>
          <p:cNvSpPr txBox="1"/>
          <p:nvPr/>
        </p:nvSpPr>
        <p:spPr>
          <a:xfrm>
            <a:off x="757125" y="1085075"/>
            <a:ext cx="455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Eigenvalue decomposition of covariance matrix: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84" name="Google Shape;984;p57"/>
          <p:cNvCxnSpPr/>
          <p:nvPr/>
        </p:nvCxnSpPr>
        <p:spPr>
          <a:xfrm rot="10800000">
            <a:off x="2832850" y="1912100"/>
            <a:ext cx="502500" cy="34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57"/>
          <p:cNvSpPr txBox="1"/>
          <p:nvPr/>
        </p:nvSpPr>
        <p:spPr>
          <a:xfrm>
            <a:off x="3335350" y="2110850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igenvector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86" name="Google Shape;986;p57"/>
          <p:cNvCxnSpPr/>
          <p:nvPr/>
        </p:nvCxnSpPr>
        <p:spPr>
          <a:xfrm rot="10800000">
            <a:off x="2331250" y="1928000"/>
            <a:ext cx="1004100" cy="3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57"/>
          <p:cNvCxnSpPr/>
          <p:nvPr/>
        </p:nvCxnSpPr>
        <p:spPr>
          <a:xfrm flipH="1" rot="10800000">
            <a:off x="2480125" y="1928025"/>
            <a:ext cx="202200" cy="46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8" name="Google Shape;988;p57"/>
          <p:cNvSpPr txBox="1"/>
          <p:nvPr/>
        </p:nvSpPr>
        <p:spPr>
          <a:xfrm>
            <a:off x="1458450" y="2318600"/>
            <a:ext cx="11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igenvalue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89" name="Google Shape;98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900" y="2585300"/>
            <a:ext cx="19431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57"/>
          <p:cNvSpPr txBox="1"/>
          <p:nvPr/>
        </p:nvSpPr>
        <p:spPr>
          <a:xfrm>
            <a:off x="5934225" y="2207825"/>
            <a:ext cx="271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Solve for eigenvalues with: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91" name="Google Shape;991;p57"/>
          <p:cNvSpPr txBox="1"/>
          <p:nvPr/>
        </p:nvSpPr>
        <p:spPr>
          <a:xfrm>
            <a:off x="5707425" y="3353100"/>
            <a:ext cx="3061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Then plug back into decomposition for eigenvectors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92" name="Google Shape;992;p57"/>
          <p:cNvSpPr txBox="1"/>
          <p:nvPr/>
        </p:nvSpPr>
        <p:spPr>
          <a:xfrm>
            <a:off x="290775" y="3009200"/>
            <a:ext cx="537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λ</a:t>
            </a:r>
            <a:r>
              <a:rPr baseline="-25000"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tell how much variance is expressed by corresponding eigenvector v</a:t>
            </a:r>
            <a:r>
              <a:rPr baseline="-25000" lang="en" sz="1500">
                <a:latin typeface="Lora"/>
                <a:ea typeface="Lora"/>
                <a:cs typeface="Lora"/>
                <a:sym typeface="Lora"/>
              </a:rPr>
              <a:t>i</a:t>
            </a:r>
            <a:endParaRPr baseline="-25000"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8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998" name="Google Shape;998;p58"/>
          <p:cNvSpPr txBox="1"/>
          <p:nvPr/>
        </p:nvSpPr>
        <p:spPr>
          <a:xfrm>
            <a:off x="1372650" y="1126075"/>
            <a:ext cx="6398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Data points can be projected back onto PCs using the eigenvectors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point x and eigenvector for PC1: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all centered points and PC1: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99" name="Google Shape;99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675" y="2011475"/>
            <a:ext cx="23622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075" y="3141775"/>
            <a:ext cx="281940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9"/>
          <p:cNvSpPr txBox="1"/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pic>
        <p:nvPicPr>
          <p:cNvPr id="1006" name="Google Shape;100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450" y="1939175"/>
            <a:ext cx="44386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9"/>
          <p:cNvSpPr txBox="1"/>
          <p:nvPr/>
        </p:nvSpPr>
        <p:spPr>
          <a:xfrm>
            <a:off x="1372650" y="1354675"/>
            <a:ext cx="639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data points can be reconstructed after projection using this: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08" name="Google Shape;1008;p59"/>
          <p:cNvSpPr txBox="1"/>
          <p:nvPr/>
        </p:nvSpPr>
        <p:spPr>
          <a:xfrm>
            <a:off x="1655225" y="2992975"/>
            <a:ext cx="639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Where V</a:t>
            </a:r>
            <a:r>
              <a:rPr baseline="-25000" lang="en" sz="1500">
                <a:latin typeface="Lora"/>
                <a:ea typeface="Lora"/>
                <a:cs typeface="Lora"/>
                <a:sym typeface="Lora"/>
              </a:rPr>
              <a:t>k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is the matrix containing the first k eigenvectors as columns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