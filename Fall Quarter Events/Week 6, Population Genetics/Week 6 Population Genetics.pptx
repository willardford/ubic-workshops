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embeddedFontLst>
    <p:embeddedFont>
      <p:font typeface="Lora" pitchFamily="2" charset="77"/>
      <p:regular r:id="rId43"/>
      <p:bold r:id="rId44"/>
      <p:italic r:id="rId45"/>
      <p:boldItalic r:id="rId46"/>
    </p:embeddedFont>
    <p:embeddedFont>
      <p:font typeface="Source Sans Pro" panose="020B0503030403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018740-86B6-45D7-9B2A-3856A6E25F21}">
  <a:tblStyle styleId="{8F018740-86B6-45D7-9B2A-3856A6E25F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918"/>
  </p:normalViewPr>
  <p:slideViewPr>
    <p:cSldViewPr snapToGrid="0">
      <p:cViewPr varScale="1">
        <p:scale>
          <a:sx n="157" d="100"/>
          <a:sy n="157" d="100"/>
        </p:scale>
        <p:origin x="176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0d8ed4d591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0d8ed4d591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0d8ed4d591_0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0d8ed4d591_0_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115095a7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115095a77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Genetic Drift: : Fluctuations of allele frequencies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Gene Flow Introducing new genetic material through </a:t>
            </a:r>
            <a:r>
              <a:rPr lang="en" sz="1500" b="1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admixture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115095a77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115095a77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157428c5e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157428c5e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15566d3f26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15566d3f26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15566d3f26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15566d3f26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15566d3f26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15566d3f26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15566d3f26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15566d3f26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15566d3f26_0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15566d3f26_0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15566d3f26_0_9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15566d3f26_0_9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15566d3f26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15566d3f26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15566d3f26_0_9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15566d3f26_0_9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15566d3f26_0_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15566d3f26_0_9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15566d3f26_0_9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15566d3f26_0_9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15566d3f26_0_1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15566d3f26_0_1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15566d3f26_0_1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15566d3f26_0_1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15566d3f26_0_1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15566d3f26_0_10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15566d3f26_0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15566d3f26_0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15566d3f26_0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315566d3f26_0_1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15566d3f26_0_1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15566d3f26_0_1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15566d3f26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15566d3f26_0_1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15566d3f26_0_1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315566d3f26_0_1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15566d3f26_0_1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15566d3f26_0_1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15566d3f26_0_1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15566d3f26_0_1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15566d3f26_0_1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15566d3f26_0_1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15566d3f26_0_1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15566d3f26_0_1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15566d3f26_0_1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315566d3f26_0_1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315566d3f26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315566d3f26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15566d3f26_0_1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15566d3f26_0_12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15566d3f26_0_1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15566d3f26_0_1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15566d3f26_0_1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15566d3f26_0_1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15566d3f26_0_1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15566d3f26_0_1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15566d3f26_0_1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15566d3f26_0_1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15566d3f26_0_1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15566d3f26_0_1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157428c5e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157428c5e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0d8ed4d591_0_10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0d8ed4d591_0_10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10861d761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10861d761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123dfd35c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123dfd35cd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123dfd35c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123dfd35c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6725" y="3532375"/>
            <a:ext cx="9210650" cy="1302680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Google Shape;10;p2"/>
          <p:cNvSpPr/>
          <p:nvPr/>
        </p:nvSpPr>
        <p:spPr>
          <a:xfrm>
            <a:off x="-26725" y="3663700"/>
            <a:ext cx="9210650" cy="1529774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14" name="Google Shape;14;p2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-42787" y="3605288"/>
            <a:ext cx="9229575" cy="642788"/>
            <a:chOff x="-42837" y="4443488"/>
            <a:chExt cx="9229575" cy="642788"/>
          </a:xfrm>
        </p:grpSpPr>
        <p:sp>
          <p:nvSpPr>
            <p:cNvPr id="18" name="Google Shape;18;p2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" name="Google Shape;43;p2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ctrTitle"/>
          </p:nvPr>
        </p:nvSpPr>
        <p:spPr>
          <a:xfrm>
            <a:off x="356000" y="4077875"/>
            <a:ext cx="8658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Lora"/>
              <a:buNone/>
              <a:defRPr sz="28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0" name="Google Shape;50;p3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" name="Google Shape;51;p3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3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55" name="Google Shape;55;p3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6" name="Google Shape;56;p3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7" name="Google Shape;57;p3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8" name="Google Shape;58;p3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59" name="Google Shape;59;p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3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Lora"/>
              <a:buNone/>
              <a:defRPr sz="3600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3"/>
          <p:cNvSpPr txBox="1">
            <a:spLocks noGrp="1"/>
          </p:cNvSpPr>
          <p:nvPr>
            <p:ph type="subTitle" idx="1"/>
          </p:nvPr>
        </p:nvSpPr>
        <p:spPr>
          <a:xfrm>
            <a:off x="2309441" y="4059250"/>
            <a:ext cx="5214600" cy="7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ora"/>
              <a:buNone/>
              <a:defRPr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1">
  <p:cSld name="TITLE_1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92" name="Google Shape;92;p4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93" name="Google Shape;93;p4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4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97" name="Google Shape;97;p4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8" name="Google Shape;98;p4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9" name="Google Shape;99;p4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00" name="Google Shape;100;p4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01" name="Google Shape;101;p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4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1536550" y="906725"/>
            <a:ext cx="60840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4"/>
          <p:cNvSpPr txBox="1">
            <a:spLocks noGrp="1"/>
          </p:cNvSpPr>
          <p:nvPr>
            <p:ph type="body" idx="1"/>
          </p:nvPr>
        </p:nvSpPr>
        <p:spPr>
          <a:xfrm>
            <a:off x="1536538" y="1789175"/>
            <a:ext cx="6084000" cy="27663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 1 1">
  <p:cSld name="TITLE_1_1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34" name="Google Shape;134;p5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35" name="Google Shape;135;p5"/>
          <p:cNvSpPr/>
          <p:nvPr/>
        </p:nvSpPr>
        <p:spPr>
          <a:xfrm rot="8100000">
            <a:off x="1847981" y="18145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 rot="8100000">
            <a:off x="6038981" y="20984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rot="8100000">
            <a:off x="7181981" y="21317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" name="Google Shape;138;p5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139" name="Google Shape;139;p5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0" name="Google Shape;140;p5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1" name="Google Shape;141;p5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42" name="Google Shape;142;p5"/>
          <p:cNvGrpSpPr/>
          <p:nvPr/>
        </p:nvGrpSpPr>
        <p:grpSpPr>
          <a:xfrm>
            <a:off x="-42837" y="2005088"/>
            <a:ext cx="9229575" cy="642788"/>
            <a:chOff x="-42837" y="4443488"/>
            <a:chExt cx="9229575" cy="642788"/>
          </a:xfrm>
        </p:grpSpPr>
        <p:sp>
          <p:nvSpPr>
            <p:cNvPr id="143" name="Google Shape;143;p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5"/>
          <p:cNvSpPr/>
          <p:nvPr/>
        </p:nvSpPr>
        <p:spPr>
          <a:xfrm>
            <a:off x="2990700" y="21478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085700" y="24335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95700" y="20776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 rot="8100000">
            <a:off x="8699949" y="18907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1536538" y="484300"/>
            <a:ext cx="60840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1"/>
          </p:nvPr>
        </p:nvSpPr>
        <p:spPr>
          <a:xfrm>
            <a:off x="1324213" y="1391600"/>
            <a:ext cx="3043200" cy="346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body" idx="2"/>
          </p:nvPr>
        </p:nvSpPr>
        <p:spPr>
          <a:xfrm>
            <a:off x="4789663" y="1391600"/>
            <a:ext cx="3043200" cy="3463200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7" name="Google Shape;177;p6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179" name="Google Shape;179;p6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180" name="Google Shape;180;p6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" name="Google Shape;183;p6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84" name="Google Shape;184;p6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5" name="Google Shape;185;p6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6" name="Google Shape;186;p6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87" name="Google Shape;187;p6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188" name="Google Shape;188;p6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6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6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6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"/>
          <p:cNvSpPr txBox="1">
            <a:spLocks noGrp="1"/>
          </p:cNvSpPr>
          <p:nvPr>
            <p:ph type="title"/>
          </p:nvPr>
        </p:nvSpPr>
        <p:spPr>
          <a:xfrm>
            <a:off x="1068925" y="329375"/>
            <a:ext cx="6996600" cy="52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Font typeface="Lora"/>
              <a:buNone/>
              <a:defRPr>
                <a:solidFill>
                  <a:srgbClr val="418B9A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20" name="Google Shape;220;p7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21" name="Google Shape;221;p7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" name="Google Shape;224;p7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225" name="Google Shape;225;p7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7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7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7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51" name="Google Shape;251;p7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2" name="Google Shape;252;p7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53" name="Google Shape;253;p7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54" name="Google Shape;254;p7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9" name="Google Shape;259;p7"/>
          <p:cNvSpPr txBox="1">
            <a:spLocks noGrp="1"/>
          </p:cNvSpPr>
          <p:nvPr>
            <p:ph type="subTitle" idx="1"/>
          </p:nvPr>
        </p:nvSpPr>
        <p:spPr>
          <a:xfrm>
            <a:off x="2838925" y="632708"/>
            <a:ext cx="3456600" cy="2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260" name="Google Shape;260;p7"/>
          <p:cNvSpPr txBox="1">
            <a:spLocks noGrp="1"/>
          </p:cNvSpPr>
          <p:nvPr>
            <p:ph type="body" idx="2"/>
          </p:nvPr>
        </p:nvSpPr>
        <p:spPr>
          <a:xfrm>
            <a:off x="917250" y="1172200"/>
            <a:ext cx="7316400" cy="24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263" name="Google Shape;263;p8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264" name="Google Shape;264;p8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8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7" name="Google Shape;267;p8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268" name="Google Shape;268;p8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69" name="Google Shape;269;p8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70" name="Google Shape;270;p8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71" name="Google Shape;271;p8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272" name="Google Shape;272;p8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8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8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8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8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8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8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8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7" name="Google Shape;297;p8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8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03" name="Google Shape;303;p9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04" name="Google Shape;304;p9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9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418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9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7" name="Google Shape;307;p9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08" name="Google Shape;308;p9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9" name="Google Shape;309;p9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0" name="Google Shape;310;p9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11" name="Google Shape;311;p9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312" name="Google Shape;312;p9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9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9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9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9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9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9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9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9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9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graph 2">
  <p:cSld name="BLANK_2_2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-20075" y="636775"/>
            <a:ext cx="9203950" cy="4550900"/>
          </a:xfrm>
          <a:custGeom>
            <a:avLst/>
            <a:gdLst/>
            <a:ahLst/>
            <a:cxnLst/>
            <a:rect l="l" t="t" r="r" b="b"/>
            <a:pathLst>
              <a:path w="368158" h="182036" extrusionOk="0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43" name="Google Shape;343;p10"/>
          <p:cNvSpPr/>
          <p:nvPr/>
        </p:nvSpPr>
        <p:spPr>
          <a:xfrm>
            <a:off x="-33475" y="768100"/>
            <a:ext cx="9210650" cy="4406200"/>
          </a:xfrm>
          <a:custGeom>
            <a:avLst/>
            <a:gdLst/>
            <a:ahLst/>
            <a:cxnLst/>
            <a:rect l="l" t="t" r="r" b="b"/>
            <a:pathLst>
              <a:path w="368426" h="176248" extrusionOk="0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44" name="Google Shape;344;p10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7" name="Google Shape;347;p10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48" name="Google Shape;348;p10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9" name="Google Shape;349;p10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50" name="Google Shape;350;p10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51" name="Google Shape;351;p10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52" name="Google Shape;352;p10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0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0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0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0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0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0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0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0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0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0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0"/>
          <p:cNvSpPr txBox="1">
            <a:spLocks noGrp="1"/>
          </p:cNvSpPr>
          <p:nvPr>
            <p:ph type="subTitle" idx="1"/>
          </p:nvPr>
        </p:nvSpPr>
        <p:spPr>
          <a:xfrm>
            <a:off x="2298300" y="652513"/>
            <a:ext cx="4547100" cy="5952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rgbClr val="418B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ll graph 1">
  <p:cSld name="BLANK_2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"/>
          <p:cNvSpPr/>
          <p:nvPr/>
        </p:nvSpPr>
        <p:spPr>
          <a:xfrm>
            <a:off x="-20075" y="636775"/>
            <a:ext cx="9203950" cy="4550900"/>
          </a:xfrm>
          <a:custGeom>
            <a:avLst/>
            <a:gdLst/>
            <a:ahLst/>
            <a:cxnLst/>
            <a:rect l="l" t="t" r="r" b="b"/>
            <a:pathLst>
              <a:path w="368158" h="182036" extrusionOk="0">
                <a:moveTo>
                  <a:pt x="41" y="263"/>
                </a:moveTo>
                <a:lnTo>
                  <a:pt x="16234" y="11294"/>
                </a:lnTo>
                <a:lnTo>
                  <a:pt x="31283" y="5122"/>
                </a:lnTo>
                <a:lnTo>
                  <a:pt x="62144" y="4991"/>
                </a:lnTo>
                <a:lnTo>
                  <a:pt x="77384" y="0"/>
                </a:lnTo>
                <a:lnTo>
                  <a:pt x="92624" y="13527"/>
                </a:lnTo>
                <a:lnTo>
                  <a:pt x="107674" y="21276"/>
                </a:lnTo>
                <a:lnTo>
                  <a:pt x="122723" y="21145"/>
                </a:lnTo>
                <a:lnTo>
                  <a:pt x="138725" y="10375"/>
                </a:lnTo>
                <a:lnTo>
                  <a:pt x="153775" y="7880"/>
                </a:lnTo>
                <a:lnTo>
                  <a:pt x="168443" y="2349"/>
                </a:lnTo>
                <a:lnTo>
                  <a:pt x="184064" y="14841"/>
                </a:lnTo>
                <a:lnTo>
                  <a:pt x="199304" y="15274"/>
                </a:lnTo>
                <a:lnTo>
                  <a:pt x="214354" y="25085"/>
                </a:lnTo>
                <a:lnTo>
                  <a:pt x="229784" y="25085"/>
                </a:lnTo>
                <a:lnTo>
                  <a:pt x="245786" y="20094"/>
                </a:lnTo>
                <a:lnTo>
                  <a:pt x="260836" y="20094"/>
                </a:lnTo>
                <a:lnTo>
                  <a:pt x="275123" y="11426"/>
                </a:lnTo>
                <a:lnTo>
                  <a:pt x="291316" y="16810"/>
                </a:lnTo>
                <a:lnTo>
                  <a:pt x="305603" y="8143"/>
                </a:lnTo>
                <a:lnTo>
                  <a:pt x="336464" y="8012"/>
                </a:lnTo>
                <a:lnTo>
                  <a:pt x="351514" y="11294"/>
                </a:lnTo>
                <a:lnTo>
                  <a:pt x="367325" y="2758"/>
                </a:lnTo>
                <a:lnTo>
                  <a:pt x="368158" y="181769"/>
                </a:lnTo>
                <a:lnTo>
                  <a:pt x="0" y="182036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384" name="Google Shape;384;p11"/>
          <p:cNvSpPr/>
          <p:nvPr/>
        </p:nvSpPr>
        <p:spPr>
          <a:xfrm>
            <a:off x="-33475" y="768100"/>
            <a:ext cx="9210650" cy="4406200"/>
          </a:xfrm>
          <a:custGeom>
            <a:avLst/>
            <a:gdLst/>
            <a:ahLst/>
            <a:cxnLst/>
            <a:rect l="l" t="t" r="r" b="b"/>
            <a:pathLst>
              <a:path w="368426" h="176248" extrusionOk="0">
                <a:moveTo>
                  <a:pt x="577" y="5516"/>
                </a:moveTo>
                <a:lnTo>
                  <a:pt x="16960" y="11214"/>
                </a:lnTo>
                <a:lnTo>
                  <a:pt x="47440" y="11214"/>
                </a:lnTo>
                <a:lnTo>
                  <a:pt x="62680" y="6843"/>
                </a:lnTo>
                <a:lnTo>
                  <a:pt x="77920" y="16156"/>
                </a:lnTo>
                <a:lnTo>
                  <a:pt x="93160" y="16156"/>
                </a:lnTo>
                <a:lnTo>
                  <a:pt x="107638" y="11214"/>
                </a:lnTo>
                <a:lnTo>
                  <a:pt x="122878" y="8173"/>
                </a:lnTo>
                <a:lnTo>
                  <a:pt x="138880" y="8173"/>
                </a:lnTo>
                <a:lnTo>
                  <a:pt x="154120" y="10834"/>
                </a:lnTo>
                <a:lnTo>
                  <a:pt x="168979" y="7603"/>
                </a:lnTo>
                <a:lnTo>
                  <a:pt x="184219" y="12734"/>
                </a:lnTo>
                <a:lnTo>
                  <a:pt x="199840" y="20527"/>
                </a:lnTo>
                <a:lnTo>
                  <a:pt x="214318" y="15205"/>
                </a:lnTo>
                <a:lnTo>
                  <a:pt x="229939" y="15205"/>
                </a:lnTo>
                <a:lnTo>
                  <a:pt x="245560" y="5892"/>
                </a:lnTo>
                <a:lnTo>
                  <a:pt x="260800" y="11214"/>
                </a:lnTo>
                <a:lnTo>
                  <a:pt x="276040" y="11214"/>
                </a:lnTo>
                <a:lnTo>
                  <a:pt x="291280" y="6843"/>
                </a:lnTo>
                <a:lnTo>
                  <a:pt x="321760" y="6843"/>
                </a:lnTo>
                <a:lnTo>
                  <a:pt x="337000" y="15966"/>
                </a:lnTo>
                <a:lnTo>
                  <a:pt x="351478" y="12734"/>
                </a:lnTo>
                <a:lnTo>
                  <a:pt x="367861" y="0"/>
                </a:lnTo>
                <a:lnTo>
                  <a:pt x="368426" y="176248"/>
                </a:lnTo>
                <a:lnTo>
                  <a:pt x="0" y="176248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385" name="Google Shape;385;p11"/>
          <p:cNvSpPr/>
          <p:nvPr/>
        </p:nvSpPr>
        <p:spPr>
          <a:xfrm rot="8100000">
            <a:off x="1847981" y="442969"/>
            <a:ext cx="122612" cy="122612"/>
          </a:xfrm>
          <a:prstGeom prst="teardrop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1"/>
          <p:cNvSpPr/>
          <p:nvPr/>
        </p:nvSpPr>
        <p:spPr>
          <a:xfrm rot="8100000">
            <a:off x="6038981" y="72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 rot="8100000">
            <a:off x="7181981" y="76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8" name="Google Shape;388;p11"/>
          <p:cNvGrpSpPr/>
          <p:nvPr/>
        </p:nvGrpSpPr>
        <p:grpSpPr>
          <a:xfrm>
            <a:off x="-9525" y="652475"/>
            <a:ext cx="9167825" cy="595300"/>
            <a:chOff x="-9525" y="4462475"/>
            <a:chExt cx="9167825" cy="595300"/>
          </a:xfrm>
        </p:grpSpPr>
        <p:sp>
          <p:nvSpPr>
            <p:cNvPr id="389" name="Google Shape;389;p11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0" name="Google Shape;390;p11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1" name="Google Shape;391;p11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92" name="Google Shape;392;p11"/>
          <p:cNvGrpSpPr/>
          <p:nvPr/>
        </p:nvGrpSpPr>
        <p:grpSpPr>
          <a:xfrm>
            <a:off x="-42837" y="633488"/>
            <a:ext cx="9229575" cy="642788"/>
            <a:chOff x="-42837" y="4443488"/>
            <a:chExt cx="9229575" cy="642788"/>
          </a:xfrm>
        </p:grpSpPr>
        <p:sp>
          <p:nvSpPr>
            <p:cNvPr id="393" name="Google Shape;393;p11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8" name="Google Shape;418;p11"/>
          <p:cNvSpPr/>
          <p:nvPr/>
        </p:nvSpPr>
        <p:spPr>
          <a:xfrm>
            <a:off x="2990700" y="77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1085700" y="106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4895700" y="70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1"/>
          <p:cNvSpPr/>
          <p:nvPr/>
        </p:nvSpPr>
        <p:spPr>
          <a:xfrm rot="8100000">
            <a:off x="8699949" y="51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1"/>
          <p:cNvSpPr txBox="1">
            <a:spLocks noGrp="1"/>
          </p:cNvSpPr>
          <p:nvPr>
            <p:ph type="title"/>
          </p:nvPr>
        </p:nvSpPr>
        <p:spPr>
          <a:xfrm>
            <a:off x="2530188" y="2286875"/>
            <a:ext cx="4088400" cy="12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BLANK_1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 1">
  <p:cSld name="TITLE_AND_TWO_COLUMNS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 txBox="1">
            <a:spLocks noGrp="1"/>
          </p:cNvSpPr>
          <p:nvPr>
            <p:ph type="title"/>
          </p:nvPr>
        </p:nvSpPr>
        <p:spPr>
          <a:xfrm>
            <a:off x="1144750" y="433225"/>
            <a:ext cx="69966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None/>
              <a:defRPr>
                <a:solidFill>
                  <a:srgbClr val="418B9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427" name="Google Shape;427;p13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428" name="Google Shape;428;p13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3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3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418B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13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432" name="Google Shape;432;p13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3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3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3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3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457;p13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458" name="Google Shape;458;p13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9" name="Google Shape;459;p13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" name="Google Shape;460;p13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1" name="Google Shape;461;p13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3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3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3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3"/>
          <p:cNvSpPr txBox="1"/>
          <p:nvPr/>
        </p:nvSpPr>
        <p:spPr>
          <a:xfrm>
            <a:off x="2590800" y="3858500"/>
            <a:ext cx="3969300" cy="4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6" name="Google Shape;466;p13"/>
          <p:cNvSpPr txBox="1">
            <a:spLocks noGrp="1"/>
          </p:cNvSpPr>
          <p:nvPr>
            <p:ph type="subTitle" idx="1"/>
          </p:nvPr>
        </p:nvSpPr>
        <p:spPr>
          <a:xfrm>
            <a:off x="2914750" y="846600"/>
            <a:ext cx="3456600" cy="38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28F5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_1_2">
    <p:bg>
      <p:bgPr>
        <a:solidFill>
          <a:schemeClr val="lt1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"/>
          <p:cNvSpPr/>
          <p:nvPr/>
        </p:nvSpPr>
        <p:spPr>
          <a:xfrm>
            <a:off x="-26725" y="3532375"/>
            <a:ext cx="9210650" cy="1302680"/>
          </a:xfrm>
          <a:custGeom>
            <a:avLst/>
            <a:gdLst/>
            <a:ahLst/>
            <a:cxnLst/>
            <a:rect l="l" t="t" r="r" b="b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469" name="Google Shape;469;p14"/>
          <p:cNvSpPr/>
          <p:nvPr/>
        </p:nvSpPr>
        <p:spPr>
          <a:xfrm>
            <a:off x="-26725" y="3663700"/>
            <a:ext cx="9210650" cy="1529774"/>
          </a:xfrm>
          <a:custGeom>
            <a:avLst/>
            <a:gdLst/>
            <a:ahLst/>
            <a:cxnLst/>
            <a:rect l="l" t="t" r="r" b="b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470" name="Google Shape;470;p14"/>
          <p:cNvSpPr/>
          <p:nvPr/>
        </p:nvSpPr>
        <p:spPr>
          <a:xfrm rot="8100000">
            <a:off x="1875856" y="3381094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691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 rot="8100000">
            <a:off x="6047081" y="3578244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2" name="Google Shape;472;p14"/>
          <p:cNvGrpSpPr/>
          <p:nvPr/>
        </p:nvGrpSpPr>
        <p:grpSpPr>
          <a:xfrm>
            <a:off x="-5312" y="3629038"/>
            <a:ext cx="9167825" cy="595300"/>
            <a:chOff x="-9525" y="4462475"/>
            <a:chExt cx="9167825" cy="595300"/>
          </a:xfrm>
        </p:grpSpPr>
        <p:sp>
          <p:nvSpPr>
            <p:cNvPr id="473" name="Google Shape;473;p14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4" name="Google Shape;474;p14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5" name="Google Shape;475;p14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76" name="Google Shape;476;p14"/>
          <p:cNvGrpSpPr/>
          <p:nvPr/>
        </p:nvGrpSpPr>
        <p:grpSpPr>
          <a:xfrm>
            <a:off x="-42787" y="3605288"/>
            <a:ext cx="9229575" cy="642788"/>
            <a:chOff x="-42837" y="4443488"/>
            <a:chExt cx="9229575" cy="642788"/>
          </a:xfrm>
        </p:grpSpPr>
        <p:sp>
          <p:nvSpPr>
            <p:cNvPr id="477" name="Google Shape;477;p14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4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4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4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4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2" name="Google Shape;502;p14"/>
          <p:cNvSpPr/>
          <p:nvPr/>
        </p:nvSpPr>
        <p:spPr>
          <a:xfrm>
            <a:off x="2990700" y="37480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1085700" y="40337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4895700" y="36778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4"/>
          <p:cNvSpPr/>
          <p:nvPr/>
        </p:nvSpPr>
        <p:spPr>
          <a:xfrm rot="8100000">
            <a:off x="8699949" y="34909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6913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4"/>
          <p:cNvSpPr txBox="1">
            <a:spLocks noGrp="1"/>
          </p:cNvSpPr>
          <p:nvPr>
            <p:ph type="ctrTitle"/>
          </p:nvPr>
        </p:nvSpPr>
        <p:spPr>
          <a:xfrm>
            <a:off x="1850450" y="4033750"/>
            <a:ext cx="56103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_1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18B9A"/>
              </a:buClr>
              <a:buSzPts val="2000"/>
              <a:buNone/>
              <a:defRPr>
                <a:solidFill>
                  <a:srgbClr val="418B9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09" name="Google Shape;509;p15"/>
          <p:cNvSpPr txBox="1">
            <a:spLocks noGrp="1"/>
          </p:cNvSpPr>
          <p:nvPr>
            <p:ph type="body" idx="1"/>
          </p:nvPr>
        </p:nvSpPr>
        <p:spPr>
          <a:xfrm>
            <a:off x="705900" y="1626600"/>
            <a:ext cx="2471700" cy="32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0" name="Google Shape;510;p15"/>
          <p:cNvSpPr txBox="1">
            <a:spLocks noGrp="1"/>
          </p:cNvSpPr>
          <p:nvPr>
            <p:ph type="body" idx="2"/>
          </p:nvPr>
        </p:nvSpPr>
        <p:spPr>
          <a:xfrm>
            <a:off x="3304125" y="1626600"/>
            <a:ext cx="2471700" cy="32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1" name="Google Shape;511;p15"/>
          <p:cNvSpPr txBox="1">
            <a:spLocks noGrp="1"/>
          </p:cNvSpPr>
          <p:nvPr>
            <p:ph type="body" idx="3"/>
          </p:nvPr>
        </p:nvSpPr>
        <p:spPr>
          <a:xfrm>
            <a:off x="5902350" y="1626600"/>
            <a:ext cx="2471700" cy="32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-28575" y="4446775"/>
            <a:ext cx="9191625" cy="712478"/>
          </a:xfrm>
          <a:custGeom>
            <a:avLst/>
            <a:gdLst/>
            <a:ahLst/>
            <a:cxnLst/>
            <a:rect l="l" t="t" r="r" b="b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418B9A"/>
          </a:solidFill>
          <a:ln>
            <a:noFill/>
          </a:ln>
        </p:spPr>
      </p:sp>
      <p:sp>
        <p:nvSpPr>
          <p:cNvPr id="513" name="Google Shape;513;p15"/>
          <p:cNvSpPr/>
          <p:nvPr/>
        </p:nvSpPr>
        <p:spPr>
          <a:xfrm>
            <a:off x="-28575" y="4578111"/>
            <a:ext cx="9191625" cy="584439"/>
          </a:xfrm>
          <a:custGeom>
            <a:avLst/>
            <a:gdLst/>
            <a:ahLst/>
            <a:cxnLst/>
            <a:rect l="l" t="t" r="r" b="b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E28F53"/>
          </a:solidFill>
          <a:ln>
            <a:noFill/>
          </a:ln>
        </p:spPr>
      </p:sp>
      <p:sp>
        <p:nvSpPr>
          <p:cNvPr id="514" name="Google Shape;514;p15"/>
          <p:cNvSpPr/>
          <p:nvPr/>
        </p:nvSpPr>
        <p:spPr>
          <a:xfrm rot="8100000">
            <a:off x="1847981" y="42529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E28F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5"/>
          <p:cNvSpPr/>
          <p:nvPr/>
        </p:nvSpPr>
        <p:spPr>
          <a:xfrm rot="8100000">
            <a:off x="6038981" y="453681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"/>
          <p:cNvSpPr/>
          <p:nvPr/>
        </p:nvSpPr>
        <p:spPr>
          <a:xfrm rot="8100000">
            <a:off x="7181981" y="4570169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7" name="Google Shape;517;p1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518" name="Google Shape;518;p15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l" t="t" r="r" b="b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9" name="Google Shape;519;p15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l" t="t" r="r" b="b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0" name="Google Shape;520;p15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l" t="t" r="r" b="b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21" name="Google Shape;521;p15"/>
          <p:cNvGrpSpPr/>
          <p:nvPr/>
        </p:nvGrpSpPr>
        <p:grpSpPr>
          <a:xfrm>
            <a:off x="-42837" y="4443488"/>
            <a:ext cx="9229575" cy="642788"/>
            <a:chOff x="-42837" y="4443488"/>
            <a:chExt cx="9229575" cy="642788"/>
          </a:xfrm>
        </p:grpSpPr>
        <p:sp>
          <p:nvSpPr>
            <p:cNvPr id="522" name="Google Shape;522;p15"/>
            <p:cNvSpPr/>
            <p:nvPr/>
          </p:nvSpPr>
          <p:spPr>
            <a:xfrm>
              <a:off x="1114450" y="49006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1495450" y="502927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733450" y="49721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352450" y="49626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5"/>
            <p:cNvSpPr/>
            <p:nvPr/>
          </p:nvSpPr>
          <p:spPr>
            <a:xfrm>
              <a:off x="-42837" y="46054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5"/>
            <p:cNvSpPr/>
            <p:nvPr/>
          </p:nvSpPr>
          <p:spPr>
            <a:xfrm>
              <a:off x="1876450" y="48340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5"/>
            <p:cNvSpPr/>
            <p:nvPr/>
          </p:nvSpPr>
          <p:spPr>
            <a:xfrm>
              <a:off x="2257450" y="48292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5"/>
            <p:cNvSpPr/>
            <p:nvPr/>
          </p:nvSpPr>
          <p:spPr>
            <a:xfrm>
              <a:off x="2638450" y="454826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3019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3400450" y="46149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3781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4162450" y="49483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4543450" y="4667325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4924450" y="45435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5305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5686450" y="47721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6067450" y="484830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6448450" y="472923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6829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7210450" y="5024513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7591450" y="44434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7972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8353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8734450" y="4557788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9129738" y="4867350"/>
              <a:ext cx="57000" cy="570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7" name="Google Shape;547;p15"/>
          <p:cNvSpPr/>
          <p:nvPr/>
        </p:nvSpPr>
        <p:spPr>
          <a:xfrm>
            <a:off x="2990700" y="458620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1085700" y="4871950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4895700" y="4516032"/>
            <a:ext cx="114600" cy="114600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 rot="8100000">
            <a:off x="8699949" y="4329169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E28F5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3" name="Google Shape;55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4" name="Google Shape;55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57" name="Google Shape;557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8" name="Google Shape;55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00CEF6"/>
              </a:buClr>
              <a:buSzPts val="2000"/>
              <a:buFont typeface="Lora"/>
              <a:buNone/>
              <a:defRPr sz="2000" b="1">
                <a:solidFill>
                  <a:srgbClr val="00CEF6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08575" y="927550"/>
            <a:ext cx="7316400" cy="3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ora"/>
              <a:buChar char="○"/>
              <a:defRPr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●"/>
              <a:defRPr sz="1500">
                <a:latin typeface="Lora"/>
                <a:ea typeface="Lora"/>
                <a:cs typeface="Lora"/>
                <a:sym typeface="Lora"/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○"/>
              <a:defRPr sz="1500">
                <a:latin typeface="Lora"/>
                <a:ea typeface="Lora"/>
                <a:cs typeface="Lora"/>
                <a:sym typeface="Lora"/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■"/>
              <a:defRPr sz="1500">
                <a:latin typeface="Lora"/>
                <a:ea typeface="Lora"/>
                <a:cs typeface="Lora"/>
                <a:sym typeface="L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3u7N5j-VsMs7lG2DR6nN-rpULQeTsjBb?usp=sharing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18"/>
          <p:cNvPicPr preferRelativeResize="0"/>
          <p:nvPr/>
        </p:nvPicPr>
        <p:blipFill rotWithShape="1">
          <a:blip r:embed="rId3">
            <a:alphaModFix/>
          </a:blip>
          <a:srcRect t="36385" b="27833"/>
          <a:stretch/>
        </p:blipFill>
        <p:spPr>
          <a:xfrm>
            <a:off x="6420929" y="0"/>
            <a:ext cx="2723075" cy="9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18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Lora"/>
                <a:ea typeface="Lora"/>
                <a:cs typeface="Lora"/>
                <a:sym typeface="Lora"/>
              </a:rPr>
              <a:t>Population Genetics</a:t>
            </a:r>
            <a:endParaRPr sz="300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Workshop #</a:t>
            </a:r>
            <a:r>
              <a:rPr lang="en" sz="4800" b="1">
                <a:latin typeface="Lora"/>
                <a:ea typeface="Lora"/>
                <a:cs typeface="Lora"/>
                <a:sym typeface="Lora"/>
              </a:rPr>
              <a:t>3</a:t>
            </a:r>
            <a:endParaRPr sz="4800" b="1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565" name="Google Shape;565;p18"/>
          <p:cNvSpPr/>
          <p:nvPr/>
        </p:nvSpPr>
        <p:spPr>
          <a:xfrm>
            <a:off x="1537500" y="2571750"/>
            <a:ext cx="6069000" cy="771600"/>
          </a:xfrm>
          <a:prstGeom prst="roundRect">
            <a:avLst>
              <a:gd name="adj" fmla="val 16667"/>
            </a:avLst>
          </a:prstGeom>
          <a:solidFill>
            <a:srgbClr val="418B9A"/>
          </a:solidFill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Please sign in &amp; grab a sandwich from Mendocino Farms!!</a:t>
            </a:r>
            <a:endParaRPr b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Introduce yourself to others - how has the quarter been so far?</a:t>
            </a:r>
            <a:endParaRPr b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9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Genetics Background</a:t>
            </a:r>
            <a:endParaRPr/>
          </a:p>
        </p:txBody>
      </p:sp>
      <p:sp>
        <p:nvSpPr>
          <p:cNvPr id="572" name="Google Shape;572;p19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What is Population Genetics?</a:t>
            </a:r>
            <a:endParaRPr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Analyzing DNA Sequences among a large population of individuals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Why is it worth studying?</a:t>
            </a:r>
            <a:endParaRPr i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E</a:t>
            </a:r>
            <a:r>
              <a:rPr lang="en">
                <a:solidFill>
                  <a:schemeClr val="dk1"/>
                </a:solidFill>
              </a:rPr>
              <a:t>nables us to better understand the relationship between </a:t>
            </a:r>
            <a:r>
              <a:rPr lang="en" b="1">
                <a:solidFill>
                  <a:schemeClr val="dk1"/>
                </a:solidFill>
              </a:rPr>
              <a:t>evolution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 b="1">
                <a:solidFill>
                  <a:schemeClr val="dk1"/>
                </a:solidFill>
              </a:rPr>
              <a:t>genetic variation</a:t>
            </a:r>
            <a:r>
              <a:rPr lang="en">
                <a:solidFill>
                  <a:schemeClr val="dk1"/>
                </a:solidFill>
              </a:rPr>
              <a:t>	</a:t>
            </a:r>
            <a:endParaRPr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</a:t>
            </a:r>
            <a:r>
              <a:rPr lang="en" b="1"/>
              <a:t>Potential Applications: </a:t>
            </a:r>
            <a:r>
              <a:rPr lang="en"/>
              <a:t>Studying drug resistance, species migrations, ancestry, personalized medicine, forensics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0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Genetics Background</a:t>
            </a:r>
            <a:endParaRPr/>
          </a:p>
        </p:txBody>
      </p:sp>
      <p:sp>
        <p:nvSpPr>
          <p:cNvPr id="578" name="Google Shape;578;p20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Drivers of Genetic Diversity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Mutations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Genetic Drift	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&gt; Fluctuations of allele frequencies</a:t>
            </a:r>
            <a:endParaRPr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Selection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&gt; Gene Flow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&gt; Introducing new genetic material through admixture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9" name="Google Shape;5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625" y="3224272"/>
            <a:ext cx="4842751" cy="16672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1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for Population Genetics</a:t>
            </a:r>
            <a:endParaRPr/>
          </a:p>
        </p:txBody>
      </p:sp>
      <p:sp>
        <p:nvSpPr>
          <p:cNvPr id="585" name="Google Shape;585;p21"/>
          <p:cNvSpPr txBox="1">
            <a:spLocks noGrp="1"/>
          </p:cNvSpPr>
          <p:nvPr>
            <p:ph type="body" idx="1"/>
          </p:nvPr>
        </p:nvSpPr>
        <p:spPr>
          <a:xfrm>
            <a:off x="908575" y="1119350"/>
            <a:ext cx="7316400" cy="324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Genome-Wide Association Study (GWAS)</a:t>
            </a:r>
            <a:endParaRPr b="1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Decode what genes are associated with higher risk of disease, and how different genes can work together leading towards complex traits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Can be used to identify correlations between ethnic groups and disease risk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Don’t always work → need to pay attention to </a:t>
            </a:r>
            <a:r>
              <a:rPr lang="en" b="1"/>
              <a:t>population structure!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Principal Component Analysis (PCA) </a:t>
            </a:r>
            <a:endParaRPr b="1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Taking multi-dimensional data and transforming it to be linear, allowing us to subsequently cluster DNA samples </a:t>
            </a:r>
            <a:endParaRPr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>
                <a:solidFill>
                  <a:schemeClr val="dk1"/>
                </a:solidFill>
              </a:rPr>
              <a:t>Represents populations numerically, then we can reimplement into GWAS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2"/>
          <p:cNvSpPr txBox="1">
            <a:spLocks noGrp="1"/>
          </p:cNvSpPr>
          <p:nvPr>
            <p:ph type="title"/>
          </p:nvPr>
        </p:nvSpPr>
        <p:spPr>
          <a:xfrm>
            <a:off x="988525" y="360150"/>
            <a:ext cx="71565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Associating Genetic Variation with Phenotypes via GWAS</a:t>
            </a:r>
            <a:endParaRPr/>
          </a:p>
        </p:txBody>
      </p:sp>
      <p:sp>
        <p:nvSpPr>
          <p:cNvPr id="591" name="Google Shape;591;p22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2" name="Google Shape;5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3" y="1024575"/>
            <a:ext cx="78771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3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Algebra Review, Brief</a:t>
            </a:r>
            <a:endParaRPr/>
          </a:p>
        </p:txBody>
      </p:sp>
      <p:sp>
        <p:nvSpPr>
          <p:cNvPr id="598" name="Google Shape;598;p23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Matrix multiplication</a:t>
            </a:r>
            <a:endParaRPr sz="170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Dot Product</a:t>
            </a:r>
            <a:endParaRPr sz="17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Transpose</a:t>
            </a:r>
            <a:endParaRPr sz="170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Eigenvectors</a:t>
            </a:r>
            <a:endParaRPr sz="1700"/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Eigenvalues</a:t>
            </a:r>
            <a:endParaRPr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4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Multiplication</a:t>
            </a:r>
            <a:endParaRPr/>
          </a:p>
        </p:txBody>
      </p:sp>
      <p:pic>
        <p:nvPicPr>
          <p:cNvPr id="604" name="Google Shape;6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00" y="1005100"/>
            <a:ext cx="4998151" cy="3027449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24"/>
          <p:cNvSpPr txBox="1"/>
          <p:nvPr/>
        </p:nvSpPr>
        <p:spPr>
          <a:xfrm>
            <a:off x="5468050" y="1450800"/>
            <a:ext cx="3174900" cy="25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mat(a) * mat(b) = mat(c)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 will have row count of a and column count of b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to be able to multiply matrices correctly the column of a and the rows of b must be equal 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Dot Product</a:t>
            </a:r>
            <a:endParaRPr/>
          </a:p>
        </p:txBody>
      </p:sp>
      <p:pic>
        <p:nvPicPr>
          <p:cNvPr id="611" name="Google Shape;6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75" y="1060025"/>
            <a:ext cx="4305300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25"/>
          <p:cNvPicPr preferRelativeResize="0"/>
          <p:nvPr/>
        </p:nvPicPr>
        <p:blipFill rotWithShape="1">
          <a:blip r:embed="rId4">
            <a:alphaModFix/>
          </a:blip>
          <a:srcRect l="14782" t="18724" r="17873" b="8"/>
          <a:stretch/>
        </p:blipFill>
        <p:spPr>
          <a:xfrm>
            <a:off x="5069425" y="1144062"/>
            <a:ext cx="3521576" cy="28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Transpose Matrix</a:t>
            </a:r>
            <a:endParaRPr/>
          </a:p>
        </p:txBody>
      </p:sp>
      <p:pic>
        <p:nvPicPr>
          <p:cNvPr id="618" name="Google Shape;618;p26"/>
          <p:cNvPicPr preferRelativeResize="0"/>
          <p:nvPr/>
        </p:nvPicPr>
        <p:blipFill rotWithShape="1">
          <a:blip r:embed="rId3">
            <a:alphaModFix/>
          </a:blip>
          <a:srcRect b="7995"/>
          <a:stretch/>
        </p:blipFill>
        <p:spPr>
          <a:xfrm>
            <a:off x="460125" y="1336400"/>
            <a:ext cx="4430950" cy="24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26"/>
          <p:cNvSpPr txBox="1"/>
          <p:nvPr/>
        </p:nvSpPr>
        <p:spPr>
          <a:xfrm>
            <a:off x="5529400" y="1743750"/>
            <a:ext cx="2886900" cy="16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Flip the original matrices rows with its columns to derive the transpose of a matrix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7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Eigenvectors &amp; Eigenvalues</a:t>
            </a:r>
            <a:endParaRPr/>
          </a:p>
        </p:txBody>
      </p:sp>
      <p:pic>
        <p:nvPicPr>
          <p:cNvPr id="625" name="Google Shape;625;p27"/>
          <p:cNvPicPr preferRelativeResize="0"/>
          <p:nvPr/>
        </p:nvPicPr>
        <p:blipFill rotWithShape="1">
          <a:blip r:embed="rId3">
            <a:alphaModFix/>
          </a:blip>
          <a:srcRect t="16926" b="12161"/>
          <a:stretch/>
        </p:blipFill>
        <p:spPr>
          <a:xfrm>
            <a:off x="474750" y="1791875"/>
            <a:ext cx="4014200" cy="1423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27"/>
          <p:cNvSpPr txBox="1"/>
          <p:nvPr/>
        </p:nvSpPr>
        <p:spPr>
          <a:xfrm>
            <a:off x="4899275" y="1724275"/>
            <a:ext cx="42594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Eigenvector: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Nonzero Vector v in such that Av=λ,  for some scalar λ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Eigenvalue: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Scalar value that makes it so Av=λv has non trivial solution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27" name="Google Shape;62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5400" y="635000"/>
            <a:ext cx="1236875" cy="123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8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PCA Plots</a:t>
            </a:r>
            <a:endParaRPr/>
          </a:p>
        </p:txBody>
      </p:sp>
      <p:pic>
        <p:nvPicPr>
          <p:cNvPr id="633" name="Google Shape;6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350" y="1026675"/>
            <a:ext cx="6272849" cy="26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graphicFrame>
        <p:nvGraphicFramePr>
          <p:cNvPr id="639" name="Google Shape;639;p29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{8F018740-86B6-45D7-9B2A-3856A6E25F21}</a:tableStyleId>
              </a:tblPr>
              <a:tblGrid>
                <a:gridCol w="7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40" name="Google Shape;64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325" y="1109340"/>
            <a:ext cx="3048101" cy="29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29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Two measures of transcription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0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graphicFrame>
        <p:nvGraphicFramePr>
          <p:cNvPr id="647" name="Google Shape;647;p30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{8F018740-86B6-45D7-9B2A-3856A6E25F21}</a:tableStyleId>
              </a:tblPr>
              <a:tblGrid>
                <a:gridCol w="7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8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39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48" name="Google Shape;6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325" y="1109340"/>
            <a:ext cx="3048101" cy="2924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0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Three measures of transcription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5880800" y="243567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6068100" y="2052325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5854451" y="1320247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53" name="Google Shape;653;p30"/>
          <p:cNvSpPr/>
          <p:nvPr/>
        </p:nvSpPr>
        <p:spPr>
          <a:xfrm>
            <a:off x="7547775" y="328572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7809769" y="354967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5352125" y="4051300"/>
            <a:ext cx="3673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Bigger dots are closer (on third axis)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56" name="Google Shape;656;p30"/>
          <p:cNvCxnSpPr/>
          <p:nvPr/>
        </p:nvCxnSpPr>
        <p:spPr>
          <a:xfrm rot="10800000" flipH="1">
            <a:off x="5477875" y="2238550"/>
            <a:ext cx="3038400" cy="17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7" name="Google Shape;657;p30"/>
          <p:cNvSpPr txBox="1"/>
          <p:nvPr/>
        </p:nvSpPr>
        <p:spPr>
          <a:xfrm>
            <a:off x="7829150" y="181185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Third axis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1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graphicFrame>
        <p:nvGraphicFramePr>
          <p:cNvPr id="663" name="Google Shape;663;p31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{8F018740-86B6-45D7-9B2A-3856A6E25F21}</a:tableStyleId>
              </a:tblPr>
              <a:tblGrid>
                <a:gridCol w="7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39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100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4" name="Google Shape;664;p31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More measures of transcription!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65" name="Google Shape;665;p31"/>
          <p:cNvSpPr txBox="1"/>
          <p:nvPr/>
        </p:nvSpPr>
        <p:spPr>
          <a:xfrm>
            <a:off x="6816250" y="1704225"/>
            <a:ext cx="10278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990000"/>
                </a:solidFill>
                <a:latin typeface="Lora"/>
                <a:ea typeface="Lora"/>
                <a:cs typeface="Lora"/>
                <a:sym typeface="Lora"/>
              </a:rPr>
              <a:t>?</a:t>
            </a:r>
            <a:endParaRPr sz="9600">
              <a:solidFill>
                <a:srgbClr val="990000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graphicFrame>
        <p:nvGraphicFramePr>
          <p:cNvPr id="671" name="Google Shape;671;p32"/>
          <p:cNvGraphicFramePr/>
          <p:nvPr/>
        </p:nvGraphicFramePr>
        <p:xfrm>
          <a:off x="263500" y="1565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{8F018740-86B6-45D7-9B2A-3856A6E25F21}</a:tableStyleId>
              </a:tblPr>
              <a:tblGrid>
                <a:gridCol w="743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6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Subject 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</a:rPr>
                        <a:t>Subject 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8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16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59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47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39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Gene 4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100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101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3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2" name="Google Shape;672;p32"/>
          <p:cNvSpPr txBox="1"/>
          <p:nvPr/>
        </p:nvSpPr>
        <p:spPr>
          <a:xfrm>
            <a:off x="386500" y="944275"/>
            <a:ext cx="3048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More measures of transcription!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73" name="Google Shape;673;p32"/>
          <p:cNvSpPr txBox="1"/>
          <p:nvPr/>
        </p:nvSpPr>
        <p:spPr>
          <a:xfrm>
            <a:off x="6816250" y="1551825"/>
            <a:ext cx="1027800" cy="1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rgbClr val="990000"/>
                </a:solidFill>
                <a:latin typeface="Lora"/>
                <a:ea typeface="Lora"/>
                <a:cs typeface="Lora"/>
                <a:sym typeface="Lora"/>
              </a:rPr>
              <a:t>?</a:t>
            </a:r>
            <a:endParaRPr sz="9600">
              <a:solidFill>
                <a:srgbClr val="99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74" name="Google Shape;674;p32"/>
          <p:cNvSpPr txBox="1"/>
          <p:nvPr/>
        </p:nvSpPr>
        <p:spPr>
          <a:xfrm>
            <a:off x="5472350" y="3144625"/>
            <a:ext cx="33597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PCA plots can take more measurements and create a 2D plot to show how subjects cluster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&amp; which gene is most valuable for clustering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3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pic>
        <p:nvPicPr>
          <p:cNvPr id="680" name="Google Shape;6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00" y="1085187"/>
            <a:ext cx="3053700" cy="297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1" name="Google Shape;681;p33"/>
          <p:cNvCxnSpPr/>
          <p:nvPr/>
        </p:nvCxnSpPr>
        <p:spPr>
          <a:xfrm flipH="1">
            <a:off x="1769900" y="1840225"/>
            <a:ext cx="685200" cy="7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2" name="Google Shape;682;p33"/>
          <p:cNvSpPr txBox="1"/>
          <p:nvPr/>
        </p:nvSpPr>
        <p:spPr>
          <a:xfrm>
            <a:off x="2411100" y="1537175"/>
            <a:ext cx="216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(avg x, avg y)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683" name="Google Shape;68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4450" y="1120225"/>
            <a:ext cx="3200434" cy="29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3"/>
          <p:cNvSpPr txBox="1"/>
          <p:nvPr/>
        </p:nvSpPr>
        <p:spPr>
          <a:xfrm>
            <a:off x="3698200" y="2723000"/>
            <a:ext cx="17787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Shift to make graph center around averages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5" name="Google Shape;685;p33"/>
          <p:cNvSpPr txBox="1"/>
          <p:nvPr/>
        </p:nvSpPr>
        <p:spPr>
          <a:xfrm>
            <a:off x="6416125" y="761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6" name="Google Shape;686;p33"/>
          <p:cNvSpPr txBox="1"/>
          <p:nvPr/>
        </p:nvSpPr>
        <p:spPr>
          <a:xfrm>
            <a:off x="8171425" y="2428038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7" name="Google Shape;687;p33"/>
          <p:cNvSpPr txBox="1"/>
          <p:nvPr/>
        </p:nvSpPr>
        <p:spPr>
          <a:xfrm>
            <a:off x="548725" y="761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88" name="Google Shape;688;p33"/>
          <p:cNvSpPr txBox="1"/>
          <p:nvPr/>
        </p:nvSpPr>
        <p:spPr>
          <a:xfrm>
            <a:off x="2984400" y="36002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4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pic>
        <p:nvPicPr>
          <p:cNvPr id="694" name="Google Shape;69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25" y="1089200"/>
            <a:ext cx="3080400" cy="3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34"/>
          <p:cNvSpPr txBox="1"/>
          <p:nvPr/>
        </p:nvSpPr>
        <p:spPr>
          <a:xfrm>
            <a:off x="3857425" y="1102375"/>
            <a:ext cx="5147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6" name="Google Shape;696;p34"/>
          <p:cNvSpPr txBox="1"/>
          <p:nvPr/>
        </p:nvSpPr>
        <p:spPr>
          <a:xfrm>
            <a:off x="1515725" y="7218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7" name="Google Shape;697;p34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5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703" name="Google Shape;703;p35"/>
          <p:cNvSpPr txBox="1"/>
          <p:nvPr/>
        </p:nvSpPr>
        <p:spPr>
          <a:xfrm>
            <a:off x="3857425" y="1102375"/>
            <a:ext cx="51474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PCA to determine which line fits best, each point is projected onto the line 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and keeps track of each projected point’s distance to origin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04" name="Google Shape;70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6" y="1102375"/>
            <a:ext cx="3339995" cy="3089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5" name="Google Shape;705;p35"/>
          <p:cNvCxnSpPr/>
          <p:nvPr/>
        </p:nvCxnSpPr>
        <p:spPr>
          <a:xfrm rot="10800000" flipH="1">
            <a:off x="1020950" y="2593100"/>
            <a:ext cx="718800" cy="2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6" name="Google Shape;706;p35"/>
          <p:cNvCxnSpPr/>
          <p:nvPr/>
        </p:nvCxnSpPr>
        <p:spPr>
          <a:xfrm rot="10800000" flipH="1">
            <a:off x="1334650" y="2439300"/>
            <a:ext cx="348000" cy="1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7" name="Google Shape;707;p35"/>
          <p:cNvCxnSpPr/>
          <p:nvPr/>
        </p:nvCxnSpPr>
        <p:spPr>
          <a:xfrm rot="10800000" flipH="1">
            <a:off x="1032350" y="1534350"/>
            <a:ext cx="353700" cy="1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8" name="Google Shape;708;p35"/>
          <p:cNvCxnSpPr/>
          <p:nvPr/>
        </p:nvCxnSpPr>
        <p:spPr>
          <a:xfrm flipH="1">
            <a:off x="2230200" y="3762475"/>
            <a:ext cx="610200" cy="26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9" name="Google Shape;709;p35"/>
          <p:cNvCxnSpPr/>
          <p:nvPr/>
        </p:nvCxnSpPr>
        <p:spPr>
          <a:xfrm flipH="1">
            <a:off x="2843600" y="4082550"/>
            <a:ext cx="303300" cy="1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0" name="Google Shape;710;p35"/>
          <p:cNvSpPr/>
          <p:nvPr/>
        </p:nvSpPr>
        <p:spPr>
          <a:xfrm rot="-1064680">
            <a:off x="1315323" y="1544469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1" name="Google Shape;711;p35"/>
          <p:cNvSpPr/>
          <p:nvPr/>
        </p:nvSpPr>
        <p:spPr>
          <a:xfrm rot="-1064680">
            <a:off x="1625523" y="2456919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2" name="Google Shape;712;p35"/>
          <p:cNvSpPr/>
          <p:nvPr/>
        </p:nvSpPr>
        <p:spPr>
          <a:xfrm rot="-1064680">
            <a:off x="1683702" y="2607906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13" name="Google Shape;713;p35"/>
          <p:cNvSpPr/>
          <p:nvPr/>
        </p:nvSpPr>
        <p:spPr>
          <a:xfrm rot="-1064680">
            <a:off x="2210848" y="3936094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14" name="Google Shape;714;p35"/>
          <p:cNvCxnSpPr/>
          <p:nvPr/>
        </p:nvCxnSpPr>
        <p:spPr>
          <a:xfrm>
            <a:off x="4896475" y="3978175"/>
            <a:ext cx="306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p35"/>
          <p:cNvCxnSpPr/>
          <p:nvPr/>
        </p:nvCxnSpPr>
        <p:spPr>
          <a:xfrm>
            <a:off x="6325225" y="2933950"/>
            <a:ext cx="0" cy="188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6" name="Google Shape;716;p35"/>
          <p:cNvSpPr/>
          <p:nvPr/>
        </p:nvSpPr>
        <p:spPr>
          <a:xfrm>
            <a:off x="5290550" y="3287300"/>
            <a:ext cx="42600" cy="42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17" name="Google Shape;717;p35"/>
          <p:cNvCxnSpPr/>
          <p:nvPr/>
        </p:nvCxnSpPr>
        <p:spPr>
          <a:xfrm rot="10800000">
            <a:off x="5535300" y="2696775"/>
            <a:ext cx="792900" cy="12876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8" name="Google Shape;718;p35"/>
          <p:cNvCxnSpPr>
            <a:endCxn id="716" idx="5"/>
          </p:cNvCxnSpPr>
          <p:nvPr/>
        </p:nvCxnSpPr>
        <p:spPr>
          <a:xfrm rot="10800000">
            <a:off x="5326911" y="3323661"/>
            <a:ext cx="1001400" cy="6555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19" name="Google Shape;719;p35"/>
          <p:cNvSpPr txBox="1"/>
          <p:nvPr/>
        </p:nvSpPr>
        <p:spPr>
          <a:xfrm>
            <a:off x="5494750" y="3529750"/>
            <a:ext cx="2694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AA84F"/>
                </a:solidFill>
                <a:latin typeface="Lora"/>
                <a:ea typeface="Lora"/>
                <a:cs typeface="Lora"/>
                <a:sym typeface="Lora"/>
              </a:rPr>
              <a:t>a</a:t>
            </a:r>
            <a:endParaRPr sz="1000">
              <a:solidFill>
                <a:srgbClr val="6AA8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0" name="Google Shape;720;p35"/>
          <p:cNvSpPr txBox="1"/>
          <p:nvPr/>
        </p:nvSpPr>
        <p:spPr>
          <a:xfrm>
            <a:off x="5655650" y="2721975"/>
            <a:ext cx="2694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b</a:t>
            </a:r>
            <a:endParaRPr sz="10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21" name="Google Shape;721;p35"/>
          <p:cNvCxnSpPr/>
          <p:nvPr/>
        </p:nvCxnSpPr>
        <p:spPr>
          <a:xfrm rot="10800000" flipH="1">
            <a:off x="5326911" y="3026539"/>
            <a:ext cx="399900" cy="26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22" name="Google Shape;722;p35"/>
          <p:cNvCxnSpPr/>
          <p:nvPr/>
        </p:nvCxnSpPr>
        <p:spPr>
          <a:xfrm rot="10800000">
            <a:off x="5733825" y="3027550"/>
            <a:ext cx="599700" cy="946200"/>
          </a:xfrm>
          <a:prstGeom prst="straightConnector1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23" name="Google Shape;723;p35"/>
          <p:cNvSpPr txBox="1"/>
          <p:nvPr/>
        </p:nvSpPr>
        <p:spPr>
          <a:xfrm>
            <a:off x="5799100" y="3027550"/>
            <a:ext cx="6477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C78D8"/>
                </a:solidFill>
                <a:latin typeface="Lora"/>
                <a:ea typeface="Lora"/>
                <a:cs typeface="Lora"/>
                <a:sym typeface="Lora"/>
              </a:rPr>
              <a:t>a⋅b</a:t>
            </a:r>
            <a:endParaRPr sz="1000">
              <a:solidFill>
                <a:srgbClr val="3C78D8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3C78D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4" name="Google Shape;724;p35"/>
          <p:cNvSpPr txBox="1"/>
          <p:nvPr/>
        </p:nvSpPr>
        <p:spPr>
          <a:xfrm>
            <a:off x="6450550" y="3278350"/>
            <a:ext cx="1398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Lora"/>
                <a:ea typeface="Lora"/>
                <a:cs typeface="Lora"/>
                <a:sym typeface="Lora"/>
              </a:rPr>
              <a:t>Keeps track of distance to origin</a:t>
            </a:r>
            <a:endParaRPr sz="9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25" name="Google Shape;725;p35"/>
          <p:cNvCxnSpPr/>
          <p:nvPr/>
        </p:nvCxnSpPr>
        <p:spPr>
          <a:xfrm>
            <a:off x="5648550" y="3089300"/>
            <a:ext cx="63000" cy="9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6" name="Google Shape;726;p35"/>
          <p:cNvCxnSpPr/>
          <p:nvPr/>
        </p:nvCxnSpPr>
        <p:spPr>
          <a:xfrm rot="10800000" flipH="1">
            <a:off x="5711625" y="3127975"/>
            <a:ext cx="83400" cy="4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7" name="Google Shape;727;p35"/>
          <p:cNvSpPr txBox="1"/>
          <p:nvPr/>
        </p:nvSpPr>
        <p:spPr>
          <a:xfrm>
            <a:off x="1575375" y="8149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28" name="Google Shape;728;p35"/>
          <p:cNvSpPr txBox="1"/>
          <p:nvPr/>
        </p:nvSpPr>
        <p:spPr>
          <a:xfrm>
            <a:off x="3151925" y="2654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734" name="Google Shape;734;p36"/>
          <p:cNvSpPr txBox="1"/>
          <p:nvPr/>
        </p:nvSpPr>
        <p:spPr>
          <a:xfrm>
            <a:off x="3857425" y="1102375"/>
            <a:ext cx="51474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PCA to determine which line fits best, each point is projected onto the line and keeps track of each projected point’s distance to origin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Each distance is squared and summed together to get sum of squared distances (SSD) 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(d1)²+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(d2)²+(d3)²+(d4)²+(d5)² = SSD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35" name="Google Shape;73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6" y="1102375"/>
            <a:ext cx="3339995" cy="3089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6" name="Google Shape;736;p36"/>
          <p:cNvCxnSpPr/>
          <p:nvPr/>
        </p:nvCxnSpPr>
        <p:spPr>
          <a:xfrm rot="10800000" flipH="1">
            <a:off x="1020950" y="2593100"/>
            <a:ext cx="718800" cy="2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7" name="Google Shape;737;p36"/>
          <p:cNvCxnSpPr/>
          <p:nvPr/>
        </p:nvCxnSpPr>
        <p:spPr>
          <a:xfrm rot="10800000" flipH="1">
            <a:off x="1334650" y="2439300"/>
            <a:ext cx="348000" cy="1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8" name="Google Shape;738;p36"/>
          <p:cNvCxnSpPr/>
          <p:nvPr/>
        </p:nvCxnSpPr>
        <p:spPr>
          <a:xfrm rot="10800000" flipH="1">
            <a:off x="1032350" y="1534350"/>
            <a:ext cx="353700" cy="1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739;p36"/>
          <p:cNvCxnSpPr/>
          <p:nvPr/>
        </p:nvCxnSpPr>
        <p:spPr>
          <a:xfrm flipH="1">
            <a:off x="2230200" y="3762475"/>
            <a:ext cx="610200" cy="26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0" name="Google Shape;740;p36"/>
          <p:cNvCxnSpPr/>
          <p:nvPr/>
        </p:nvCxnSpPr>
        <p:spPr>
          <a:xfrm flipH="1">
            <a:off x="2843600" y="4082550"/>
            <a:ext cx="303300" cy="1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1" name="Google Shape;741;p36"/>
          <p:cNvSpPr/>
          <p:nvPr/>
        </p:nvSpPr>
        <p:spPr>
          <a:xfrm rot="-1064680">
            <a:off x="1315323" y="1544469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2" name="Google Shape;742;p36"/>
          <p:cNvSpPr/>
          <p:nvPr/>
        </p:nvSpPr>
        <p:spPr>
          <a:xfrm rot="-1064680">
            <a:off x="1625523" y="2456919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3" name="Google Shape;743;p36"/>
          <p:cNvSpPr/>
          <p:nvPr/>
        </p:nvSpPr>
        <p:spPr>
          <a:xfrm rot="-1064680">
            <a:off x="1683702" y="2607906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4" name="Google Shape;744;p36"/>
          <p:cNvSpPr/>
          <p:nvPr/>
        </p:nvSpPr>
        <p:spPr>
          <a:xfrm rot="-1064680">
            <a:off x="2210848" y="3936094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5" name="Google Shape;745;p36"/>
          <p:cNvSpPr/>
          <p:nvPr/>
        </p:nvSpPr>
        <p:spPr>
          <a:xfrm rot="-1057681">
            <a:off x="1625307" y="1456814"/>
            <a:ext cx="303134" cy="1512917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6" name="Google Shape;746;p36"/>
          <p:cNvSpPr/>
          <p:nvPr/>
        </p:nvSpPr>
        <p:spPr>
          <a:xfrm rot="-1057681">
            <a:off x="2056257" y="2898961"/>
            <a:ext cx="303134" cy="1106178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7" name="Google Shape;747;p36"/>
          <p:cNvSpPr/>
          <p:nvPr/>
        </p:nvSpPr>
        <p:spPr>
          <a:xfrm rot="-1057864" flipH="1">
            <a:off x="1446623" y="2653934"/>
            <a:ext cx="351617" cy="385584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8" name="Google Shape;748;p36"/>
          <p:cNvSpPr/>
          <p:nvPr/>
        </p:nvSpPr>
        <p:spPr>
          <a:xfrm rot="-1057864" flipH="1">
            <a:off x="1756312" y="2997642"/>
            <a:ext cx="351617" cy="15194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49" name="Google Shape;749;p36"/>
          <p:cNvSpPr/>
          <p:nvPr/>
        </p:nvSpPr>
        <p:spPr>
          <a:xfrm rot="-1058542">
            <a:off x="1776623" y="2380428"/>
            <a:ext cx="288048" cy="570404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0" name="Google Shape;750;p36"/>
          <p:cNvSpPr txBox="1"/>
          <p:nvPr/>
        </p:nvSpPr>
        <p:spPr>
          <a:xfrm>
            <a:off x="1878875" y="19728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1" name="Google Shape;751;p36"/>
          <p:cNvSpPr txBox="1"/>
          <p:nvPr/>
        </p:nvSpPr>
        <p:spPr>
          <a:xfrm>
            <a:off x="2014325" y="24259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d2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2" name="Google Shape;752;p36"/>
          <p:cNvSpPr txBox="1"/>
          <p:nvPr/>
        </p:nvSpPr>
        <p:spPr>
          <a:xfrm>
            <a:off x="1168075" y="27412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d3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3" name="Google Shape;753;p36"/>
          <p:cNvSpPr txBox="1"/>
          <p:nvPr/>
        </p:nvSpPr>
        <p:spPr>
          <a:xfrm>
            <a:off x="2282550" y="3175950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d4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4" name="Google Shape;754;p36"/>
          <p:cNvSpPr txBox="1"/>
          <p:nvPr/>
        </p:nvSpPr>
        <p:spPr>
          <a:xfrm>
            <a:off x="1470325" y="36179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d5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5" name="Google Shape;755;p36"/>
          <p:cNvSpPr txBox="1"/>
          <p:nvPr/>
        </p:nvSpPr>
        <p:spPr>
          <a:xfrm>
            <a:off x="1575375" y="8149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56" name="Google Shape;756;p36"/>
          <p:cNvSpPr txBox="1"/>
          <p:nvPr/>
        </p:nvSpPr>
        <p:spPr>
          <a:xfrm>
            <a:off x="3151925" y="2654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7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762" name="Google Shape;762;p37"/>
          <p:cNvSpPr txBox="1"/>
          <p:nvPr/>
        </p:nvSpPr>
        <p:spPr>
          <a:xfrm>
            <a:off x="3857425" y="1102375"/>
            <a:ext cx="51474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Next, draw line and rotate it until PCA determines a line of best fit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PCA to determine which line fits best, each point is projected onto the line and keeps track of each projected point’s distance to origin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Each distance is squared and summed together to get sum of squared distances (SSD) 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(d1)²+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(d2)²+(d3)²+(d4)²+(d5)² = SSD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line that produces the largest SSD will be the best scoring line to fit</a:t>
            </a:r>
            <a:endParaRPr sz="15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63" name="Google Shape;76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326" y="1102375"/>
            <a:ext cx="3339995" cy="3089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64" name="Google Shape;764;p37"/>
          <p:cNvCxnSpPr/>
          <p:nvPr/>
        </p:nvCxnSpPr>
        <p:spPr>
          <a:xfrm rot="10800000" flipH="1">
            <a:off x="1020950" y="2593100"/>
            <a:ext cx="718800" cy="256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5" name="Google Shape;765;p37"/>
          <p:cNvCxnSpPr/>
          <p:nvPr/>
        </p:nvCxnSpPr>
        <p:spPr>
          <a:xfrm rot="10800000" flipH="1">
            <a:off x="1334650" y="2439300"/>
            <a:ext cx="348000" cy="1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6" name="Google Shape;766;p37"/>
          <p:cNvCxnSpPr/>
          <p:nvPr/>
        </p:nvCxnSpPr>
        <p:spPr>
          <a:xfrm rot="10800000" flipH="1">
            <a:off x="1032350" y="1534350"/>
            <a:ext cx="353700" cy="114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7" name="Google Shape;767;p37"/>
          <p:cNvCxnSpPr/>
          <p:nvPr/>
        </p:nvCxnSpPr>
        <p:spPr>
          <a:xfrm flipH="1">
            <a:off x="2230200" y="3762475"/>
            <a:ext cx="610200" cy="26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8" name="Google Shape;768;p37"/>
          <p:cNvCxnSpPr/>
          <p:nvPr/>
        </p:nvCxnSpPr>
        <p:spPr>
          <a:xfrm flipH="1">
            <a:off x="2843600" y="4082550"/>
            <a:ext cx="303300" cy="10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9" name="Google Shape;769;p37"/>
          <p:cNvSpPr/>
          <p:nvPr/>
        </p:nvSpPr>
        <p:spPr>
          <a:xfrm rot="-1064680">
            <a:off x="1315323" y="1544469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0" name="Google Shape;770;p37"/>
          <p:cNvSpPr/>
          <p:nvPr/>
        </p:nvSpPr>
        <p:spPr>
          <a:xfrm rot="-1064680">
            <a:off x="1625523" y="2456919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1" name="Google Shape;771;p37"/>
          <p:cNvSpPr/>
          <p:nvPr/>
        </p:nvSpPr>
        <p:spPr>
          <a:xfrm rot="-1064680">
            <a:off x="1683702" y="2607906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2" name="Google Shape;772;p37"/>
          <p:cNvSpPr/>
          <p:nvPr/>
        </p:nvSpPr>
        <p:spPr>
          <a:xfrm rot="-1064680">
            <a:off x="2210848" y="3936094"/>
            <a:ext cx="78746" cy="78746"/>
          </a:xfrm>
          <a:prstGeom prst="rect">
            <a:avLst/>
          </a:prstGeom>
          <a:noFill/>
          <a:ln w="19050" cap="flat" cmpd="sng">
            <a:solidFill>
              <a:srgbClr val="A61C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3" name="Google Shape;773;p37"/>
          <p:cNvSpPr/>
          <p:nvPr/>
        </p:nvSpPr>
        <p:spPr>
          <a:xfrm rot="-1057681">
            <a:off x="1625307" y="1456814"/>
            <a:ext cx="303134" cy="1512917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4" name="Google Shape;774;p37"/>
          <p:cNvSpPr/>
          <p:nvPr/>
        </p:nvSpPr>
        <p:spPr>
          <a:xfrm rot="-1057681">
            <a:off x="2056257" y="2898961"/>
            <a:ext cx="303134" cy="1106178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5" name="Google Shape;775;p37"/>
          <p:cNvSpPr/>
          <p:nvPr/>
        </p:nvSpPr>
        <p:spPr>
          <a:xfrm rot="-1057864" flipH="1">
            <a:off x="1446623" y="2653934"/>
            <a:ext cx="351617" cy="385584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6" name="Google Shape;776;p37"/>
          <p:cNvSpPr/>
          <p:nvPr/>
        </p:nvSpPr>
        <p:spPr>
          <a:xfrm rot="-1057864" flipH="1">
            <a:off x="1756312" y="2997642"/>
            <a:ext cx="351617" cy="1519466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7" name="Google Shape;777;p37"/>
          <p:cNvSpPr/>
          <p:nvPr/>
        </p:nvSpPr>
        <p:spPr>
          <a:xfrm rot="-1058542">
            <a:off x="1776623" y="2380428"/>
            <a:ext cx="288048" cy="570404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8" name="Google Shape;778;p37"/>
          <p:cNvSpPr txBox="1"/>
          <p:nvPr/>
        </p:nvSpPr>
        <p:spPr>
          <a:xfrm>
            <a:off x="1878875" y="19728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d1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9" name="Google Shape;779;p37"/>
          <p:cNvSpPr txBox="1"/>
          <p:nvPr/>
        </p:nvSpPr>
        <p:spPr>
          <a:xfrm>
            <a:off x="2014325" y="24259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d2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0" name="Google Shape;780;p37"/>
          <p:cNvSpPr txBox="1"/>
          <p:nvPr/>
        </p:nvSpPr>
        <p:spPr>
          <a:xfrm>
            <a:off x="1168075" y="2741238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d3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1" name="Google Shape;781;p37"/>
          <p:cNvSpPr txBox="1"/>
          <p:nvPr/>
        </p:nvSpPr>
        <p:spPr>
          <a:xfrm>
            <a:off x="2282550" y="3175950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d4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2" name="Google Shape;782;p37"/>
          <p:cNvSpPr txBox="1"/>
          <p:nvPr/>
        </p:nvSpPr>
        <p:spPr>
          <a:xfrm>
            <a:off x="1470325" y="3617925"/>
            <a:ext cx="5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Lora"/>
                <a:ea typeface="Lora"/>
                <a:cs typeface="Lora"/>
                <a:sym typeface="Lora"/>
              </a:rPr>
              <a:t>d5</a:t>
            </a:r>
            <a:endParaRPr sz="1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3" name="Google Shape;783;p37"/>
          <p:cNvSpPr txBox="1"/>
          <p:nvPr/>
        </p:nvSpPr>
        <p:spPr>
          <a:xfrm>
            <a:off x="1575375" y="8149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84" name="Google Shape;784;p37"/>
          <p:cNvSpPr txBox="1"/>
          <p:nvPr/>
        </p:nvSpPr>
        <p:spPr>
          <a:xfrm>
            <a:off x="3151925" y="265400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8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pic>
        <p:nvPicPr>
          <p:cNvPr id="790" name="Google Shape;79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25" y="1089200"/>
            <a:ext cx="3080400" cy="3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38"/>
          <p:cNvSpPr txBox="1"/>
          <p:nvPr/>
        </p:nvSpPr>
        <p:spPr>
          <a:xfrm>
            <a:off x="3857425" y="1102375"/>
            <a:ext cx="51474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line that has the best fit is called Principal Component 1 or PC1. Its slope is -0.8419, telling us that Gene 1 is slightly more influential in describing how the data is spread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eigenvector for PC1 can be computed by making it a unit vector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2" name="Google Shape;792;p38"/>
          <p:cNvSpPr txBox="1"/>
          <p:nvPr/>
        </p:nvSpPr>
        <p:spPr>
          <a:xfrm>
            <a:off x="1515725" y="7218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3" name="Google Shape;793;p38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794" name="Google Shape;794;p38"/>
          <p:cNvCxnSpPr/>
          <p:nvPr/>
        </p:nvCxnSpPr>
        <p:spPr>
          <a:xfrm rot="10800000">
            <a:off x="1593850" y="2511425"/>
            <a:ext cx="304800" cy="2667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795" name="Google Shape;795;p38"/>
          <p:cNvCxnSpPr/>
          <p:nvPr/>
        </p:nvCxnSpPr>
        <p:spPr>
          <a:xfrm rot="10800000">
            <a:off x="1629300" y="2765050"/>
            <a:ext cx="256500" cy="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38"/>
          <p:cNvCxnSpPr/>
          <p:nvPr/>
        </p:nvCxnSpPr>
        <p:spPr>
          <a:xfrm rot="10800000">
            <a:off x="1619025" y="2534775"/>
            <a:ext cx="5100" cy="2355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7" name="Google Shape;797;p38"/>
          <p:cNvSpPr txBox="1"/>
          <p:nvPr/>
        </p:nvSpPr>
        <p:spPr>
          <a:xfrm>
            <a:off x="2995525" y="24309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8" name="Google Shape;798;p38"/>
          <p:cNvSpPr/>
          <p:nvPr/>
        </p:nvSpPr>
        <p:spPr>
          <a:xfrm>
            <a:off x="4297875" y="3035600"/>
            <a:ext cx="1556400" cy="731700"/>
          </a:xfrm>
          <a:prstGeom prst="rtTriangl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99" name="Google Shape;799;p38"/>
          <p:cNvSpPr txBox="1"/>
          <p:nvPr/>
        </p:nvSpPr>
        <p:spPr>
          <a:xfrm>
            <a:off x="4546875" y="3767300"/>
            <a:ext cx="105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-0.8419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0" name="Google Shape;800;p38"/>
          <p:cNvSpPr txBox="1"/>
          <p:nvPr/>
        </p:nvSpPr>
        <p:spPr>
          <a:xfrm>
            <a:off x="3976500" y="3131375"/>
            <a:ext cx="256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1" name="Google Shape;801;p38"/>
          <p:cNvSpPr/>
          <p:nvPr/>
        </p:nvSpPr>
        <p:spPr>
          <a:xfrm>
            <a:off x="5795300" y="3221375"/>
            <a:ext cx="700800" cy="23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2" name="Google Shape;802;p38"/>
          <p:cNvSpPr/>
          <p:nvPr/>
        </p:nvSpPr>
        <p:spPr>
          <a:xfrm>
            <a:off x="7307800" y="3055175"/>
            <a:ext cx="1556400" cy="731700"/>
          </a:xfrm>
          <a:prstGeom prst="rtTriangl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3" name="Google Shape;803;p38"/>
          <p:cNvSpPr txBox="1"/>
          <p:nvPr/>
        </p:nvSpPr>
        <p:spPr>
          <a:xfrm>
            <a:off x="7556800" y="3786875"/>
            <a:ext cx="105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-0.6440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4" name="Google Shape;804;p38"/>
          <p:cNvSpPr txBox="1"/>
          <p:nvPr/>
        </p:nvSpPr>
        <p:spPr>
          <a:xfrm>
            <a:off x="6579475" y="31232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0.7650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5" name="Google Shape;805;p38"/>
          <p:cNvSpPr txBox="1"/>
          <p:nvPr/>
        </p:nvSpPr>
        <p:spPr>
          <a:xfrm>
            <a:off x="4916325" y="30356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1.3072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6" name="Google Shape;806;p38"/>
          <p:cNvSpPr txBox="1"/>
          <p:nvPr/>
        </p:nvSpPr>
        <p:spPr>
          <a:xfrm>
            <a:off x="7962100" y="3035600"/>
            <a:ext cx="400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07" name="Google Shape;807;p38"/>
          <p:cNvSpPr txBox="1"/>
          <p:nvPr/>
        </p:nvSpPr>
        <p:spPr>
          <a:xfrm>
            <a:off x="6291800" y="3915825"/>
            <a:ext cx="10584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Loading scores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08" name="Google Shape;808;p38"/>
          <p:cNvCxnSpPr>
            <a:stCxn id="807" idx="0"/>
            <a:endCxn id="804" idx="2"/>
          </p:cNvCxnSpPr>
          <p:nvPr/>
        </p:nvCxnSpPr>
        <p:spPr>
          <a:xfrm rot="10800000" flipH="1">
            <a:off x="6821000" y="3538725"/>
            <a:ext cx="156300" cy="37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9" name="Google Shape;809;p38"/>
          <p:cNvCxnSpPr>
            <a:endCxn id="803" idx="1"/>
          </p:cNvCxnSpPr>
          <p:nvPr/>
        </p:nvCxnSpPr>
        <p:spPr>
          <a:xfrm rot="10800000" flipH="1">
            <a:off x="7145800" y="3994625"/>
            <a:ext cx="411000" cy="21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pic>
        <p:nvPicPr>
          <p:cNvPr id="815" name="Google Shape;81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525" y="1089200"/>
            <a:ext cx="3080400" cy="308532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39"/>
          <p:cNvSpPr txBox="1"/>
          <p:nvPr/>
        </p:nvSpPr>
        <p:spPr>
          <a:xfrm>
            <a:off x="3857425" y="1102375"/>
            <a:ext cx="51474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line that has the best fit is called Principal Component 1 or PC1. Its slope is -0.8419, telling us that Gene 1 is slightly more influential in describing how the data is spread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 for PC1 can be computed by getting the average of the sum squared distances (SSD)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SSD for PC1/(n-1) = eigenvalue for PC1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7" name="Google Shape;817;p39"/>
          <p:cNvSpPr txBox="1"/>
          <p:nvPr/>
        </p:nvSpPr>
        <p:spPr>
          <a:xfrm>
            <a:off x="1515725" y="7218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18" name="Google Shape;818;p39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19" name="Google Shape;819;p39"/>
          <p:cNvCxnSpPr/>
          <p:nvPr/>
        </p:nvCxnSpPr>
        <p:spPr>
          <a:xfrm rot="10800000">
            <a:off x="1593850" y="2511425"/>
            <a:ext cx="304800" cy="2667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20" name="Google Shape;820;p39"/>
          <p:cNvCxnSpPr/>
          <p:nvPr/>
        </p:nvCxnSpPr>
        <p:spPr>
          <a:xfrm rot="10800000">
            <a:off x="1629300" y="2765050"/>
            <a:ext cx="256500" cy="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21" name="Google Shape;821;p39"/>
          <p:cNvCxnSpPr/>
          <p:nvPr/>
        </p:nvCxnSpPr>
        <p:spPr>
          <a:xfrm rot="10800000">
            <a:off x="1619025" y="2534775"/>
            <a:ext cx="5100" cy="2355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22" name="Google Shape;822;p39"/>
          <p:cNvSpPr txBox="1"/>
          <p:nvPr/>
        </p:nvSpPr>
        <p:spPr>
          <a:xfrm>
            <a:off x="2995525" y="24309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7" name="Google Shape;8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550" y="1364513"/>
            <a:ext cx="2745858" cy="2628124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0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829" name="Google Shape;829;p40"/>
          <p:cNvSpPr txBox="1"/>
          <p:nvPr/>
        </p:nvSpPr>
        <p:spPr>
          <a:xfrm>
            <a:off x="3857425" y="1102375"/>
            <a:ext cx="5147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line perpendicular at the origin to PC1 is PC2, the slope for PC2 is -1/(slope of PCA). This means for PC2, Gene 2 is more influential than Gene 1. The eigenvalue and eigenvector is computed the same 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0" name="Google Shape;830;p40"/>
          <p:cNvSpPr txBox="1"/>
          <p:nvPr/>
        </p:nvSpPr>
        <p:spPr>
          <a:xfrm>
            <a:off x="1439525" y="950475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1" name="Google Shape;831;p40"/>
          <p:cNvSpPr txBox="1"/>
          <p:nvPr/>
        </p:nvSpPr>
        <p:spPr>
          <a:xfrm>
            <a:off x="2995525" y="2428050"/>
            <a:ext cx="861900" cy="2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Gene 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2" name="Google Shape;832;p40"/>
          <p:cNvSpPr txBox="1"/>
          <p:nvPr/>
        </p:nvSpPr>
        <p:spPr>
          <a:xfrm>
            <a:off x="2995525" y="2430900"/>
            <a:ext cx="795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33" name="Google Shape;833;p40"/>
          <p:cNvCxnSpPr/>
          <p:nvPr/>
        </p:nvCxnSpPr>
        <p:spPr>
          <a:xfrm rot="10800000" flipH="1">
            <a:off x="1878050" y="2472700"/>
            <a:ext cx="242700" cy="2886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834" name="Google Shape;834;p40"/>
          <p:cNvCxnSpPr/>
          <p:nvPr/>
        </p:nvCxnSpPr>
        <p:spPr>
          <a:xfrm>
            <a:off x="1862975" y="2754775"/>
            <a:ext cx="231000" cy="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835" name="Google Shape;835;p40"/>
          <p:cNvCxnSpPr/>
          <p:nvPr/>
        </p:nvCxnSpPr>
        <p:spPr>
          <a:xfrm rot="10800000" flipH="1">
            <a:off x="2094100" y="2523575"/>
            <a:ext cx="6900" cy="238200"/>
          </a:xfrm>
          <a:prstGeom prst="straightConnector1">
            <a:avLst/>
          </a:prstGeom>
          <a:noFill/>
          <a:ln w="9525" cap="flat" cmpd="sng">
            <a:solidFill>
              <a:srgbClr val="1155C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36" name="Google Shape;836;p40"/>
          <p:cNvSpPr txBox="1"/>
          <p:nvPr/>
        </p:nvSpPr>
        <p:spPr>
          <a:xfrm>
            <a:off x="210050" y="1621700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7" name="Google Shape;837;p40"/>
          <p:cNvSpPr txBox="1"/>
          <p:nvPr/>
        </p:nvSpPr>
        <p:spPr>
          <a:xfrm>
            <a:off x="2721700" y="1621700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1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843" name="Google Shape;843;p41"/>
          <p:cNvSpPr txBox="1"/>
          <p:nvPr/>
        </p:nvSpPr>
        <p:spPr>
          <a:xfrm>
            <a:off x="3857425" y="1102375"/>
            <a:ext cx="514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new axes become PC1 and PC2 in the final PCA plot, and the points are projected from the axes.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computed for PC1 and PC2 earlier are measures for variation, and each can tell what percent of the variation each accounts for.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4" name="Google Shape;844;p41"/>
          <p:cNvSpPr txBox="1"/>
          <p:nvPr/>
        </p:nvSpPr>
        <p:spPr>
          <a:xfrm>
            <a:off x="1223375" y="7976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5" name="Google Shape;845;p41"/>
          <p:cNvSpPr txBox="1"/>
          <p:nvPr/>
        </p:nvSpPr>
        <p:spPr>
          <a:xfrm>
            <a:off x="3067550" y="2364000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846" name="Google Shape;846;p41"/>
          <p:cNvPicPr preferRelativeResize="0"/>
          <p:nvPr/>
        </p:nvPicPr>
        <p:blipFill rotWithShape="1">
          <a:blip r:embed="rId3">
            <a:alphaModFix/>
          </a:blip>
          <a:srcRect l="4995" t="5667" r="7668" b="7132"/>
          <a:stretch/>
        </p:blipFill>
        <p:spPr>
          <a:xfrm rot="-2426059">
            <a:off x="402556" y="1489016"/>
            <a:ext cx="2412888" cy="2398742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41"/>
          <p:cNvSpPr/>
          <p:nvPr/>
        </p:nvSpPr>
        <p:spPr>
          <a:xfrm>
            <a:off x="1575825" y="1818625"/>
            <a:ext cx="1015500" cy="100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8" name="Google Shape;848;p41"/>
          <p:cNvSpPr/>
          <p:nvPr/>
        </p:nvSpPr>
        <p:spPr>
          <a:xfrm>
            <a:off x="1575825" y="1482450"/>
            <a:ext cx="1351800" cy="13377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49" name="Google Shape;849;p41"/>
          <p:cNvSpPr/>
          <p:nvPr/>
        </p:nvSpPr>
        <p:spPr>
          <a:xfrm rot="10800000">
            <a:off x="364125" y="2820000"/>
            <a:ext cx="1211700" cy="1193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0" name="Google Shape;850;p41"/>
          <p:cNvSpPr/>
          <p:nvPr/>
        </p:nvSpPr>
        <p:spPr>
          <a:xfrm rot="10800000">
            <a:off x="1022625" y="2820275"/>
            <a:ext cx="559500" cy="562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1" name="Google Shape;851;p41"/>
          <p:cNvSpPr/>
          <p:nvPr/>
        </p:nvSpPr>
        <p:spPr>
          <a:xfrm rot="10800000">
            <a:off x="980625" y="2820000"/>
            <a:ext cx="595200" cy="6258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2" name="Google Shape;852;p41"/>
          <p:cNvSpPr/>
          <p:nvPr/>
        </p:nvSpPr>
        <p:spPr>
          <a:xfrm>
            <a:off x="2539325" y="1768450"/>
            <a:ext cx="96900" cy="96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3" name="Google Shape;853;p41"/>
          <p:cNvSpPr/>
          <p:nvPr/>
        </p:nvSpPr>
        <p:spPr>
          <a:xfrm>
            <a:off x="2875475" y="1437100"/>
            <a:ext cx="96900" cy="96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4" name="Google Shape;854;p41"/>
          <p:cNvSpPr/>
          <p:nvPr/>
        </p:nvSpPr>
        <p:spPr>
          <a:xfrm>
            <a:off x="971575" y="3322000"/>
            <a:ext cx="96900" cy="96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5" name="Google Shape;855;p41"/>
          <p:cNvSpPr/>
          <p:nvPr/>
        </p:nvSpPr>
        <p:spPr>
          <a:xfrm>
            <a:off x="941525" y="3382775"/>
            <a:ext cx="96900" cy="96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56" name="Google Shape;856;p41"/>
          <p:cNvSpPr/>
          <p:nvPr/>
        </p:nvSpPr>
        <p:spPr>
          <a:xfrm>
            <a:off x="321425" y="3953050"/>
            <a:ext cx="96900" cy="96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4" y="1160204"/>
            <a:ext cx="3172801" cy="3036742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42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863" name="Google Shape;863;p42"/>
          <p:cNvSpPr txBox="1"/>
          <p:nvPr/>
        </p:nvSpPr>
        <p:spPr>
          <a:xfrm>
            <a:off x="3857425" y="1102375"/>
            <a:ext cx="5147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With more genes, more axes are involved and more principal components are generated.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*Each PC is perpendicular to each other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4" name="Google Shape;864;p42"/>
          <p:cNvSpPr/>
          <p:nvPr/>
        </p:nvSpPr>
        <p:spPr>
          <a:xfrm>
            <a:off x="988075" y="255572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5" name="Google Shape;865;p42"/>
          <p:cNvSpPr/>
          <p:nvPr/>
        </p:nvSpPr>
        <p:spPr>
          <a:xfrm>
            <a:off x="1175075" y="2176300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6" name="Google Shape;866;p42"/>
          <p:cNvSpPr/>
          <p:nvPr/>
        </p:nvSpPr>
        <p:spPr>
          <a:xfrm>
            <a:off x="961683" y="1443451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7" name="Google Shape;867;p42"/>
          <p:cNvSpPr/>
          <p:nvPr/>
        </p:nvSpPr>
        <p:spPr>
          <a:xfrm>
            <a:off x="2687850" y="343117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2949219" y="371412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69" name="Google Shape;869;p42"/>
          <p:cNvCxnSpPr/>
          <p:nvPr/>
        </p:nvCxnSpPr>
        <p:spPr>
          <a:xfrm rot="10800000" flipH="1">
            <a:off x="418475" y="1869825"/>
            <a:ext cx="3038400" cy="17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0" name="Google Shape;870;p42"/>
          <p:cNvSpPr txBox="1"/>
          <p:nvPr/>
        </p:nvSpPr>
        <p:spPr>
          <a:xfrm>
            <a:off x="2949225" y="199660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3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71" name="Google Shape;871;p42"/>
          <p:cNvCxnSpPr/>
          <p:nvPr/>
        </p:nvCxnSpPr>
        <p:spPr>
          <a:xfrm>
            <a:off x="1543925" y="1179725"/>
            <a:ext cx="653700" cy="30909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42"/>
          <p:cNvSpPr txBox="1"/>
          <p:nvPr/>
        </p:nvSpPr>
        <p:spPr>
          <a:xfrm>
            <a:off x="1046525" y="1084000"/>
            <a:ext cx="682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86E8"/>
                </a:solidFill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solidFill>
                <a:srgbClr val="4A86E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3" name="Google Shape;873;p42"/>
          <p:cNvSpPr txBox="1"/>
          <p:nvPr/>
        </p:nvSpPr>
        <p:spPr>
          <a:xfrm>
            <a:off x="200700" y="1635625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4" name="Google Shape;874;p42"/>
          <p:cNvSpPr txBox="1"/>
          <p:nvPr/>
        </p:nvSpPr>
        <p:spPr>
          <a:xfrm>
            <a:off x="2652225" y="9470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5" name="Google Shape;875;p42"/>
          <p:cNvSpPr txBox="1"/>
          <p:nvPr/>
        </p:nvSpPr>
        <p:spPr>
          <a:xfrm>
            <a:off x="3038025" y="2746975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1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76" name="Google Shape;876;p42"/>
          <p:cNvSpPr txBox="1"/>
          <p:nvPr/>
        </p:nvSpPr>
        <p:spPr>
          <a:xfrm>
            <a:off x="1590575" y="857175"/>
            <a:ext cx="653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2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4" y="1160204"/>
            <a:ext cx="3172801" cy="3036742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43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883" name="Google Shape;883;p43"/>
          <p:cNvSpPr txBox="1"/>
          <p:nvPr/>
        </p:nvSpPr>
        <p:spPr>
          <a:xfrm>
            <a:off x="3857425" y="1102375"/>
            <a:ext cx="5147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With more genes, more axes are involved and more principal components are generated.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*Each PC is perpendicular to each other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for each PC can be used to determine the portion of variation each PC accounts for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4" name="Google Shape;884;p43"/>
          <p:cNvSpPr/>
          <p:nvPr/>
        </p:nvSpPr>
        <p:spPr>
          <a:xfrm>
            <a:off x="988075" y="255572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5" name="Google Shape;885;p43"/>
          <p:cNvSpPr/>
          <p:nvPr/>
        </p:nvSpPr>
        <p:spPr>
          <a:xfrm>
            <a:off x="1175075" y="2176300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6" name="Google Shape;886;p43"/>
          <p:cNvSpPr/>
          <p:nvPr/>
        </p:nvSpPr>
        <p:spPr>
          <a:xfrm>
            <a:off x="961683" y="1443451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2687850" y="343117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2949219" y="371412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89" name="Google Shape;889;p43"/>
          <p:cNvCxnSpPr/>
          <p:nvPr/>
        </p:nvCxnSpPr>
        <p:spPr>
          <a:xfrm rot="10800000" flipH="1">
            <a:off x="418475" y="1869825"/>
            <a:ext cx="3038400" cy="17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0" name="Google Shape;890;p43"/>
          <p:cNvSpPr txBox="1"/>
          <p:nvPr/>
        </p:nvSpPr>
        <p:spPr>
          <a:xfrm>
            <a:off x="2949225" y="199660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3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891" name="Google Shape;891;p43"/>
          <p:cNvCxnSpPr/>
          <p:nvPr/>
        </p:nvCxnSpPr>
        <p:spPr>
          <a:xfrm>
            <a:off x="1543925" y="1179725"/>
            <a:ext cx="653700" cy="30909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2" name="Google Shape;892;p43"/>
          <p:cNvSpPr txBox="1"/>
          <p:nvPr/>
        </p:nvSpPr>
        <p:spPr>
          <a:xfrm>
            <a:off x="1046525" y="1084000"/>
            <a:ext cx="682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86E8"/>
                </a:solidFill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solidFill>
                <a:srgbClr val="4A86E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3" name="Google Shape;893;p43"/>
          <p:cNvSpPr txBox="1"/>
          <p:nvPr/>
        </p:nvSpPr>
        <p:spPr>
          <a:xfrm>
            <a:off x="200700" y="1635625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4" name="Google Shape;894;p43"/>
          <p:cNvSpPr txBox="1"/>
          <p:nvPr/>
        </p:nvSpPr>
        <p:spPr>
          <a:xfrm>
            <a:off x="2652225" y="9470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5" name="Google Shape;895;p43"/>
          <p:cNvSpPr txBox="1"/>
          <p:nvPr/>
        </p:nvSpPr>
        <p:spPr>
          <a:xfrm>
            <a:off x="3038025" y="2746975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1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6" name="Google Shape;896;p43"/>
          <p:cNvSpPr txBox="1"/>
          <p:nvPr/>
        </p:nvSpPr>
        <p:spPr>
          <a:xfrm>
            <a:off x="1590575" y="857175"/>
            <a:ext cx="653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2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074" y="1160204"/>
            <a:ext cx="3172801" cy="3036742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44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903" name="Google Shape;903;p44"/>
          <p:cNvSpPr txBox="1"/>
          <p:nvPr/>
        </p:nvSpPr>
        <p:spPr>
          <a:xfrm>
            <a:off x="3857425" y="1102375"/>
            <a:ext cx="51474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With more genes, more axes are involved and more principal components are generated.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*Each PC is perpendicular to each other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for each PC can be used to determine the portion of variation each PC accounts for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representation in a 2D plot, the top two PCs that account for the most variation would be used as xy axes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4" name="Google Shape;904;p44"/>
          <p:cNvSpPr/>
          <p:nvPr/>
        </p:nvSpPr>
        <p:spPr>
          <a:xfrm>
            <a:off x="988075" y="2555725"/>
            <a:ext cx="245700" cy="245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5" name="Google Shape;905;p44"/>
          <p:cNvSpPr/>
          <p:nvPr/>
        </p:nvSpPr>
        <p:spPr>
          <a:xfrm>
            <a:off x="1175075" y="2176300"/>
            <a:ext cx="415500" cy="415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6" name="Google Shape;906;p44"/>
          <p:cNvSpPr/>
          <p:nvPr/>
        </p:nvSpPr>
        <p:spPr>
          <a:xfrm>
            <a:off x="961683" y="1443451"/>
            <a:ext cx="298500" cy="298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7" name="Google Shape;907;p44"/>
          <p:cNvSpPr/>
          <p:nvPr/>
        </p:nvSpPr>
        <p:spPr>
          <a:xfrm>
            <a:off x="2687850" y="3431175"/>
            <a:ext cx="88800" cy="8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08" name="Google Shape;908;p44"/>
          <p:cNvSpPr/>
          <p:nvPr/>
        </p:nvSpPr>
        <p:spPr>
          <a:xfrm>
            <a:off x="2949219" y="3714125"/>
            <a:ext cx="88800" cy="87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09" name="Google Shape;909;p44"/>
          <p:cNvCxnSpPr/>
          <p:nvPr/>
        </p:nvCxnSpPr>
        <p:spPr>
          <a:xfrm rot="10800000" flipH="1">
            <a:off x="418475" y="1869825"/>
            <a:ext cx="3038400" cy="177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0" name="Google Shape;910;p44"/>
          <p:cNvSpPr txBox="1"/>
          <p:nvPr/>
        </p:nvSpPr>
        <p:spPr>
          <a:xfrm>
            <a:off x="2949225" y="1996600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3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11" name="Google Shape;911;p44"/>
          <p:cNvCxnSpPr/>
          <p:nvPr/>
        </p:nvCxnSpPr>
        <p:spPr>
          <a:xfrm>
            <a:off x="1543925" y="1179725"/>
            <a:ext cx="653700" cy="3090900"/>
          </a:xfrm>
          <a:prstGeom prst="straightConnector1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2" name="Google Shape;912;p44"/>
          <p:cNvSpPr txBox="1"/>
          <p:nvPr/>
        </p:nvSpPr>
        <p:spPr>
          <a:xfrm>
            <a:off x="1046525" y="1084000"/>
            <a:ext cx="6828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A86E8"/>
                </a:solidFill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solidFill>
                <a:srgbClr val="4A86E8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3" name="Google Shape;913;p44"/>
          <p:cNvSpPr txBox="1"/>
          <p:nvPr/>
        </p:nvSpPr>
        <p:spPr>
          <a:xfrm>
            <a:off x="200700" y="1635625"/>
            <a:ext cx="527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solidFill>
                <a:srgbClr val="CC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4" name="Google Shape;914;p44"/>
          <p:cNvSpPr txBox="1"/>
          <p:nvPr/>
        </p:nvSpPr>
        <p:spPr>
          <a:xfrm>
            <a:off x="2652225" y="947025"/>
            <a:ext cx="6828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PC2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5" name="Google Shape;915;p44"/>
          <p:cNvSpPr txBox="1"/>
          <p:nvPr/>
        </p:nvSpPr>
        <p:spPr>
          <a:xfrm>
            <a:off x="3038025" y="2746975"/>
            <a:ext cx="8679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1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16" name="Google Shape;916;p44"/>
          <p:cNvSpPr txBox="1"/>
          <p:nvPr/>
        </p:nvSpPr>
        <p:spPr>
          <a:xfrm>
            <a:off x="1590575" y="857175"/>
            <a:ext cx="6537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ora"/>
                <a:ea typeface="Lora"/>
                <a:cs typeface="Lora"/>
                <a:sym typeface="Lora"/>
              </a:rPr>
              <a:t>Gene 2</a:t>
            </a:r>
            <a:endParaRPr sz="1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5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</a:t>
            </a:r>
            <a:endParaRPr/>
          </a:p>
        </p:txBody>
      </p:sp>
      <p:sp>
        <p:nvSpPr>
          <p:cNvPr id="922" name="Google Shape;922;p45"/>
          <p:cNvSpPr txBox="1"/>
          <p:nvPr/>
        </p:nvSpPr>
        <p:spPr>
          <a:xfrm>
            <a:off x="3857425" y="1102375"/>
            <a:ext cx="5147400" cy="31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for each PC can be used to determine the portion of variation each PC accounts for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representation in a 2D plot, the top two PCs that account for the most variation would be used as xy axes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If this was PC3 and PC1, the graph would look something like this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*If more than two genes accounted for much of the variation, this graph would be less accurate to representing variation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23" name="Google Shape;923;p45"/>
          <p:cNvCxnSpPr/>
          <p:nvPr/>
        </p:nvCxnSpPr>
        <p:spPr>
          <a:xfrm>
            <a:off x="1850125" y="1183775"/>
            <a:ext cx="0" cy="2834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4" name="Google Shape;924;p45"/>
          <p:cNvCxnSpPr/>
          <p:nvPr/>
        </p:nvCxnSpPr>
        <p:spPr>
          <a:xfrm>
            <a:off x="262625" y="2571750"/>
            <a:ext cx="329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5" name="Google Shape;925;p45"/>
          <p:cNvSpPr txBox="1"/>
          <p:nvPr/>
        </p:nvSpPr>
        <p:spPr>
          <a:xfrm>
            <a:off x="1585450" y="874275"/>
            <a:ext cx="882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PC3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6" name="Google Shape;926;p45"/>
          <p:cNvSpPr txBox="1"/>
          <p:nvPr/>
        </p:nvSpPr>
        <p:spPr>
          <a:xfrm>
            <a:off x="3137200" y="2256775"/>
            <a:ext cx="570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PC1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7" name="Google Shape;927;p45"/>
          <p:cNvSpPr/>
          <p:nvPr/>
        </p:nvSpPr>
        <p:spPr>
          <a:xfrm>
            <a:off x="2089125" y="1214900"/>
            <a:ext cx="117600" cy="117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8" name="Google Shape;928;p45"/>
          <p:cNvSpPr/>
          <p:nvPr/>
        </p:nvSpPr>
        <p:spPr>
          <a:xfrm>
            <a:off x="1932775" y="1367300"/>
            <a:ext cx="117600" cy="117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29" name="Google Shape;929;p45"/>
          <p:cNvSpPr/>
          <p:nvPr/>
        </p:nvSpPr>
        <p:spPr>
          <a:xfrm>
            <a:off x="1533400" y="3352425"/>
            <a:ext cx="117600" cy="117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0" name="Google Shape;930;p45"/>
          <p:cNvSpPr/>
          <p:nvPr/>
        </p:nvSpPr>
        <p:spPr>
          <a:xfrm>
            <a:off x="1685800" y="3570500"/>
            <a:ext cx="117600" cy="117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31" name="Google Shape;931;p45"/>
          <p:cNvSpPr/>
          <p:nvPr/>
        </p:nvSpPr>
        <p:spPr>
          <a:xfrm>
            <a:off x="1651000" y="3801725"/>
            <a:ext cx="117600" cy="117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graphicFrame>
        <p:nvGraphicFramePr>
          <p:cNvPr id="937" name="Google Shape;937;p46"/>
          <p:cNvGraphicFramePr/>
          <p:nvPr/>
        </p:nvGraphicFramePr>
        <p:xfrm>
          <a:off x="460250" y="10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{8F018740-86B6-45D7-9B2A-3856A6E25F21}</a:tableStyleId>
              </a:tblPr>
              <a:tblGrid>
                <a:gridCol w="7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34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Subject 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Subject 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Subject n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17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…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 p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38" name="Google Shape;938;p46"/>
          <p:cNvSpPr txBox="1"/>
          <p:nvPr/>
        </p:nvSpPr>
        <p:spPr>
          <a:xfrm>
            <a:off x="4975625" y="1078650"/>
            <a:ext cx="264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Represent as Matrix X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39" name="Google Shape;939;p46"/>
          <p:cNvPicPr preferRelativeResize="0"/>
          <p:nvPr/>
        </p:nvPicPr>
        <p:blipFill rotWithShape="1">
          <a:blip r:embed="rId3">
            <a:alphaModFix/>
          </a:blip>
          <a:srcRect l="9477"/>
          <a:stretch/>
        </p:blipFill>
        <p:spPr>
          <a:xfrm>
            <a:off x="5192825" y="1698525"/>
            <a:ext cx="24315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7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945" name="Google Shape;945;p47"/>
          <p:cNvSpPr txBox="1"/>
          <p:nvPr/>
        </p:nvSpPr>
        <p:spPr>
          <a:xfrm>
            <a:off x="913875" y="1119975"/>
            <a:ext cx="2648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Calculate Mean of each Feature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46" name="Google Shape;946;p47"/>
          <p:cNvSpPr txBox="1"/>
          <p:nvPr/>
        </p:nvSpPr>
        <p:spPr>
          <a:xfrm>
            <a:off x="4023475" y="1485325"/>
            <a:ext cx="377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Then center X data by subtracting mean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47" name="Google Shape;94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525" y="1900825"/>
            <a:ext cx="129540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125" y="2063675"/>
            <a:ext cx="2524125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8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954" name="Google Shape;954;p48"/>
          <p:cNvSpPr txBox="1"/>
          <p:nvPr/>
        </p:nvSpPr>
        <p:spPr>
          <a:xfrm>
            <a:off x="2960525" y="1168000"/>
            <a:ext cx="377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Compute the Covariance Matrix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55" name="Google Shape;95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563" y="1683575"/>
            <a:ext cx="3362325" cy="771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6" name="Google Shape;956;p48"/>
          <p:cNvCxnSpPr/>
          <p:nvPr/>
        </p:nvCxnSpPr>
        <p:spPr>
          <a:xfrm rot="10800000">
            <a:off x="4640050" y="2403750"/>
            <a:ext cx="450000" cy="62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7" name="Google Shape;957;p48"/>
          <p:cNvSpPr txBox="1"/>
          <p:nvPr/>
        </p:nvSpPr>
        <p:spPr>
          <a:xfrm>
            <a:off x="4922575" y="3115675"/>
            <a:ext cx="2637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Transpose of centered data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58" name="Google Shape;958;p48"/>
          <p:cNvCxnSpPr/>
          <p:nvPr/>
        </p:nvCxnSpPr>
        <p:spPr>
          <a:xfrm rot="10800000" flipH="1">
            <a:off x="3593275" y="2424725"/>
            <a:ext cx="198900" cy="52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9" name="Google Shape;959;p48"/>
          <p:cNvSpPr txBox="1"/>
          <p:nvPr/>
        </p:nvSpPr>
        <p:spPr>
          <a:xfrm>
            <a:off x="1824350" y="3000175"/>
            <a:ext cx="2993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Used to get unbiased estimate of covariance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9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pic>
        <p:nvPicPr>
          <p:cNvPr id="965" name="Google Shape;96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200" y="1207325"/>
            <a:ext cx="3362325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49"/>
          <p:cNvSpPr txBox="1"/>
          <p:nvPr/>
        </p:nvSpPr>
        <p:spPr>
          <a:xfrm>
            <a:off x="1685100" y="2311900"/>
            <a:ext cx="6243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Covariance matrix is a p by p matrix, each element represents covariance between feature i and j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" sz="1500" baseline="-25000">
                <a:latin typeface="Lora"/>
                <a:ea typeface="Lora"/>
                <a:cs typeface="Lora"/>
                <a:sym typeface="Lora"/>
              </a:rPr>
              <a:t>i,i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represents variance of each feature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Font typeface="Lora"/>
              <a:buChar char="-"/>
            </a:pP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</a:t>
            </a:r>
            <a:r>
              <a:rPr lang="en" sz="1500" baseline="-25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i,j</a:t>
            </a:r>
            <a:r>
              <a:rPr lang="en" sz="15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represents covariance between different features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0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PCA Plots, with Linear Algebra</a:t>
            </a:r>
            <a:endParaRPr/>
          </a:p>
        </p:txBody>
      </p:sp>
      <p:pic>
        <p:nvPicPr>
          <p:cNvPr id="972" name="Google Shape;97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675" y="1500575"/>
            <a:ext cx="1066800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50"/>
          <p:cNvSpPr txBox="1"/>
          <p:nvPr/>
        </p:nvSpPr>
        <p:spPr>
          <a:xfrm>
            <a:off x="757125" y="1085075"/>
            <a:ext cx="45531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Eigenvalue decomposition of covariance matrix: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74" name="Google Shape;974;p50"/>
          <p:cNvCxnSpPr/>
          <p:nvPr/>
        </p:nvCxnSpPr>
        <p:spPr>
          <a:xfrm rot="10800000">
            <a:off x="2832850" y="1912100"/>
            <a:ext cx="502500" cy="34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5" name="Google Shape;975;p50"/>
          <p:cNvSpPr txBox="1"/>
          <p:nvPr/>
        </p:nvSpPr>
        <p:spPr>
          <a:xfrm>
            <a:off x="3335350" y="2110850"/>
            <a:ext cx="12663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eigenvector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76" name="Google Shape;976;p50"/>
          <p:cNvCxnSpPr/>
          <p:nvPr/>
        </p:nvCxnSpPr>
        <p:spPr>
          <a:xfrm rot="10800000">
            <a:off x="2331250" y="1928000"/>
            <a:ext cx="1004100" cy="390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7" name="Google Shape;977;p50"/>
          <p:cNvCxnSpPr/>
          <p:nvPr/>
        </p:nvCxnSpPr>
        <p:spPr>
          <a:xfrm rot="10800000" flipH="1">
            <a:off x="2480125" y="1928025"/>
            <a:ext cx="202200" cy="46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8" name="Google Shape;978;p50"/>
          <p:cNvSpPr txBox="1"/>
          <p:nvPr/>
        </p:nvSpPr>
        <p:spPr>
          <a:xfrm>
            <a:off x="1458450" y="2318600"/>
            <a:ext cx="1133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eigenvalue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79" name="Google Shape;97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900" y="2585300"/>
            <a:ext cx="19431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50"/>
          <p:cNvSpPr txBox="1"/>
          <p:nvPr/>
        </p:nvSpPr>
        <p:spPr>
          <a:xfrm>
            <a:off x="5934225" y="2207825"/>
            <a:ext cx="2710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Solve for eigenvalues with: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1" name="Google Shape;981;p50"/>
          <p:cNvSpPr txBox="1"/>
          <p:nvPr/>
        </p:nvSpPr>
        <p:spPr>
          <a:xfrm>
            <a:off x="5707425" y="3353100"/>
            <a:ext cx="3061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Then plug back into decomposition for eigenvectors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82" name="Google Shape;982;p50"/>
          <p:cNvSpPr txBox="1"/>
          <p:nvPr/>
        </p:nvSpPr>
        <p:spPr>
          <a:xfrm>
            <a:off x="290775" y="3009200"/>
            <a:ext cx="5376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eigenvalues λ</a:t>
            </a:r>
            <a:r>
              <a:rPr lang="en" sz="1500" baseline="-25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tell how much variance is expressed by corresponding eigenvector v</a:t>
            </a:r>
            <a:r>
              <a:rPr lang="en" sz="1500" baseline="-25000">
                <a:latin typeface="Lora"/>
                <a:ea typeface="Lora"/>
                <a:cs typeface="Lora"/>
                <a:sym typeface="Lora"/>
              </a:rPr>
              <a:t>i</a:t>
            </a:r>
            <a:endParaRPr sz="1500" baseline="-250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51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988" name="Google Shape;988;p51"/>
          <p:cNvSpPr txBox="1"/>
          <p:nvPr/>
        </p:nvSpPr>
        <p:spPr>
          <a:xfrm>
            <a:off x="1372650" y="1126075"/>
            <a:ext cx="6398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Data points can be projected back onto PCs using the eigenvectors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point x and eigenvector for PC1:</a:t>
            </a: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Lora"/>
              <a:ea typeface="Lora"/>
              <a:cs typeface="Lora"/>
              <a:sym typeface="Lor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For all centered points and PC1: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989" name="Google Shape;98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675" y="2011475"/>
            <a:ext cx="23622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7075" y="3141775"/>
            <a:ext cx="281940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52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PCA Plots, with Linear Algebra</a:t>
            </a:r>
            <a:endParaRPr/>
          </a:p>
        </p:txBody>
      </p:sp>
      <p:pic>
        <p:nvPicPr>
          <p:cNvPr id="996" name="Google Shape;99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450" y="1939175"/>
            <a:ext cx="443865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52"/>
          <p:cNvSpPr txBox="1"/>
          <p:nvPr/>
        </p:nvSpPr>
        <p:spPr>
          <a:xfrm>
            <a:off x="1372650" y="1354675"/>
            <a:ext cx="639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The data points can be reconstructed after projection using this: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98" name="Google Shape;998;p52"/>
          <p:cNvSpPr txBox="1"/>
          <p:nvPr/>
        </p:nvSpPr>
        <p:spPr>
          <a:xfrm>
            <a:off x="1655225" y="2992975"/>
            <a:ext cx="6398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Where V</a:t>
            </a:r>
            <a:r>
              <a:rPr lang="en" sz="1500" baseline="-25000">
                <a:latin typeface="Lora"/>
                <a:ea typeface="Lora"/>
                <a:cs typeface="Lora"/>
                <a:sym typeface="Lora"/>
              </a:rPr>
              <a:t>k</a:t>
            </a:r>
            <a:r>
              <a:rPr lang="en" sz="1500">
                <a:latin typeface="Lora"/>
                <a:ea typeface="Lora"/>
                <a:cs typeface="Lora"/>
                <a:sym typeface="Lora"/>
              </a:rPr>
              <a:t> is the matrix containing k eigenvectors as columns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99" name="Google Shape;999;p52"/>
          <p:cNvSpPr txBox="1"/>
          <p:nvPr/>
        </p:nvSpPr>
        <p:spPr>
          <a:xfrm>
            <a:off x="3345750" y="3719325"/>
            <a:ext cx="2452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ora"/>
                <a:ea typeface="Lora"/>
                <a:cs typeface="Lora"/>
                <a:sym typeface="Lora"/>
              </a:rPr>
              <a:t>You now have a PCA Plot!</a:t>
            </a:r>
            <a:endParaRPr sz="15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53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Understanding PCA Plots, with Linear Algebra</a:t>
            </a:r>
            <a:endParaRPr/>
          </a:p>
        </p:txBody>
      </p:sp>
      <p:sp>
        <p:nvSpPr>
          <p:cNvPr id="1005" name="Google Shape;1005;p53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Knowing this process is important to correctly using PCA plots 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Normalizing/Centering Data pre processing</a:t>
            </a:r>
            <a:endParaRPr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Interpreting variance weights of PCs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54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Genome Wide Association Studies GWAS predict which genes are correlated with a trait</a:t>
            </a:r>
            <a:endParaRPr/>
          </a:p>
        </p:txBody>
      </p:sp>
      <p:sp>
        <p:nvSpPr>
          <p:cNvPr id="1011" name="Google Shape;1011;p54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2" name="Google Shape;101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13" y="1024575"/>
            <a:ext cx="787717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55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Genes are not perfect predictors</a:t>
            </a:r>
            <a:endParaRPr/>
          </a:p>
        </p:txBody>
      </p:sp>
      <p:pic>
        <p:nvPicPr>
          <p:cNvPr id="1018" name="Google Shape;101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250" y="1073138"/>
            <a:ext cx="6877050" cy="330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6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 group is a confounding variable</a:t>
            </a:r>
            <a:endParaRPr/>
          </a:p>
        </p:txBody>
      </p:sp>
      <p:pic>
        <p:nvPicPr>
          <p:cNvPr id="1024" name="Google Shape;102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50" y="785150"/>
            <a:ext cx="6340050" cy="42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56"/>
          <p:cNvSpPr txBox="1"/>
          <p:nvPr/>
        </p:nvSpPr>
        <p:spPr>
          <a:xfrm>
            <a:off x="5722700" y="1493200"/>
            <a:ext cx="31386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ora"/>
                <a:ea typeface="Lora"/>
                <a:cs typeface="Lora"/>
                <a:sym typeface="Lora"/>
              </a:rPr>
              <a:t>Idea: </a:t>
            </a:r>
            <a:endParaRPr sz="17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Lora"/>
              <a:ea typeface="Lora"/>
              <a:cs typeface="Lora"/>
              <a:sym typeface="L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ora"/>
                <a:ea typeface="Lora"/>
                <a:cs typeface="Lora"/>
                <a:sym typeface="Lora"/>
              </a:rPr>
              <a:t>Represent population structure by the principal components.</a:t>
            </a:r>
            <a:endParaRPr sz="1700"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7"/>
          <p:cNvSpPr txBox="1">
            <a:spLocks noGrp="1"/>
          </p:cNvSpPr>
          <p:nvPr>
            <p:ph type="title"/>
          </p:nvPr>
        </p:nvSpPr>
        <p:spPr>
          <a:xfrm>
            <a:off x="1068463" y="279075"/>
            <a:ext cx="6996600" cy="5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try it in practice:</a:t>
            </a:r>
            <a:endParaRPr/>
          </a:p>
        </p:txBody>
      </p:sp>
      <p:sp>
        <p:nvSpPr>
          <p:cNvPr id="1031" name="Google Shape;1031;p57"/>
          <p:cNvSpPr txBox="1">
            <a:spLocks noGrp="1"/>
          </p:cNvSpPr>
          <p:nvPr>
            <p:ph type="body" idx="1"/>
          </p:nvPr>
        </p:nvSpPr>
        <p:spPr>
          <a:xfrm>
            <a:off x="908563" y="1119350"/>
            <a:ext cx="7316400" cy="23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Notebook for PCA plots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1633</Words>
  <Application>Microsoft Macintosh PowerPoint</Application>
  <PresentationFormat>On-screen Show (16:9)</PresentationFormat>
  <Paragraphs>374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Lora</vt:lpstr>
      <vt:lpstr>Source Sans Pro</vt:lpstr>
      <vt:lpstr>Arial</vt:lpstr>
      <vt:lpstr>Quince template</vt:lpstr>
      <vt:lpstr>PowerPoint Presentation</vt:lpstr>
      <vt:lpstr>Population Genetics Background</vt:lpstr>
      <vt:lpstr>Population Genetics Background</vt:lpstr>
      <vt:lpstr>Tools for Population Genetics</vt:lpstr>
      <vt:lpstr>Associating Genetic Variation with Phenotypes via GWAS</vt:lpstr>
      <vt:lpstr>Linear Algebra Review, Brief</vt:lpstr>
      <vt:lpstr>Matrix Multiplication</vt:lpstr>
      <vt:lpstr>Dot Product</vt:lpstr>
      <vt:lpstr>Transpose Matrix</vt:lpstr>
      <vt:lpstr>Eigenvectors &amp; Eigenvalues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</vt:lpstr>
      <vt:lpstr>Understanding PCA Plots, with Linear Algebra</vt:lpstr>
      <vt:lpstr>Understanding PCA Plots, with Linear Algebra</vt:lpstr>
      <vt:lpstr>Understanding PCA Plots, with Linear Algebra</vt:lpstr>
      <vt:lpstr>Understanding PCA Plots, with Linear Algebra</vt:lpstr>
      <vt:lpstr>Understanding PCA Plots, with Linear Algebra</vt:lpstr>
      <vt:lpstr>Understanding PCA Plots, with Linear Algebra</vt:lpstr>
      <vt:lpstr>Understanding PCA Plots, with Linear Algebra</vt:lpstr>
      <vt:lpstr>Understanding PCA Plots, with Linear Algebra</vt:lpstr>
      <vt:lpstr>Genome Wide Association Studies GWAS predict which genes are correlated with a trait</vt:lpstr>
      <vt:lpstr>Genes are not perfect predictors</vt:lpstr>
      <vt:lpstr>Population group is a confounding variable</vt:lpstr>
      <vt:lpstr>Lets try it in practice: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Ford, Willard W</cp:lastModifiedBy>
  <cp:revision>1</cp:revision>
  <dcterms:modified xsi:type="dcterms:W3CDTF">2026-02-19T03:42:30Z</dcterms:modified>
</cp:coreProperties>
</file>